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293A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293A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293A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293A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344" y="211610"/>
            <a:ext cx="5851525" cy="62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293A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1" y="1137603"/>
            <a:ext cx="4018915" cy="2512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preencoded.png"/>
          <p:cNvGrpSpPr/>
          <p:nvPr/>
        </p:nvGrpSpPr>
        <p:grpSpPr>
          <a:xfrm>
            <a:off x="4571644" y="-353"/>
            <a:ext cx="4572000" cy="5143500"/>
            <a:chOff x="4571644" y="-353"/>
            <a:chExt cx="4572000" cy="514350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99" y="14"/>
              <a:ext cx="4571631" cy="51429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1644" y="-353"/>
              <a:ext cx="54610" cy="5143500"/>
            </a:xfrm>
            <a:custGeom>
              <a:avLst/>
              <a:gdLst/>
              <a:ahLst/>
              <a:cxnLst/>
              <a:rect l="l" t="t" r="r" b="b"/>
              <a:pathLst>
                <a:path w="54610" h="5143500">
                  <a:moveTo>
                    <a:pt x="54356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7355" y="5143309"/>
                  </a:lnTo>
                  <a:lnTo>
                    <a:pt x="54356" y="5143309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444144" y="581718"/>
            <a:ext cx="3032760" cy="236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73405" algn="l"/>
                <a:tab pos="2079625" algn="l"/>
              </a:tabLst>
            </a:pPr>
            <a:r>
              <a:rPr dirty="0" sz="1350" spc="-175">
                <a:solidFill>
                  <a:srgbClr val="69993E"/>
                </a:solidFill>
                <a:latin typeface="Verdana"/>
                <a:cs typeface="Verdana"/>
              </a:rPr>
              <a:t>D</a:t>
            </a:r>
            <a:r>
              <a:rPr dirty="0" sz="1350" spc="-10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69993E"/>
                </a:solidFill>
                <a:latin typeface="Verdana"/>
                <a:cs typeface="Verdana"/>
              </a:rPr>
              <a:t>A</a:t>
            </a:r>
            <a:r>
              <a:rPr dirty="0" sz="1350" spc="-7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69993E"/>
                </a:solidFill>
                <a:latin typeface="Verdana"/>
                <a:cs typeface="Verdana"/>
              </a:rPr>
              <a:t>A</a:t>
            </a:r>
            <a:r>
              <a:rPr dirty="0" sz="1350">
                <a:solidFill>
                  <a:srgbClr val="69993E"/>
                </a:solidFill>
                <a:latin typeface="Verdana"/>
                <a:cs typeface="Verdana"/>
              </a:rPr>
              <a:t>	</a:t>
            </a:r>
            <a:r>
              <a:rPr dirty="0" sz="1350" spc="-110">
                <a:solidFill>
                  <a:srgbClr val="69993E"/>
                </a:solidFill>
                <a:latin typeface="Verdana"/>
                <a:cs typeface="Verdana"/>
              </a:rPr>
              <a:t>H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69993E"/>
                </a:solidFill>
                <a:latin typeface="Verdana"/>
                <a:cs typeface="Verdana"/>
              </a:rPr>
              <a:t>A</a:t>
            </a:r>
            <a:r>
              <a:rPr dirty="0" sz="1350" spc="-10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69993E"/>
                </a:solidFill>
                <a:latin typeface="Verdana"/>
                <a:cs typeface="Verdana"/>
              </a:rPr>
              <a:t>C</a:t>
            </a:r>
            <a:r>
              <a:rPr dirty="0" sz="1350" spc="-7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50">
                <a:solidFill>
                  <a:srgbClr val="69993E"/>
                </a:solidFill>
                <a:latin typeface="Verdana"/>
                <a:cs typeface="Verdana"/>
              </a:rPr>
              <a:t>K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69993E"/>
                </a:solidFill>
                <a:latin typeface="Verdana"/>
                <a:cs typeface="Verdana"/>
              </a:rPr>
              <a:t>A</a:t>
            </a:r>
            <a:r>
              <a:rPr dirty="0" sz="1350" spc="-16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50">
                <a:solidFill>
                  <a:srgbClr val="69993E"/>
                </a:solidFill>
                <a:latin typeface="Verdana"/>
                <a:cs typeface="Verdana"/>
              </a:rPr>
              <a:t>T</a:t>
            </a:r>
            <a:r>
              <a:rPr dirty="0" sz="1350" spc="-6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69993E"/>
                </a:solidFill>
                <a:latin typeface="Verdana"/>
                <a:cs typeface="Verdana"/>
              </a:rPr>
              <a:t>H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35">
                <a:solidFill>
                  <a:srgbClr val="69993E"/>
                </a:solidFill>
                <a:latin typeface="Verdana"/>
                <a:cs typeface="Verdana"/>
              </a:rPr>
              <a:t>O</a:t>
            </a:r>
            <a:r>
              <a:rPr dirty="0" sz="1350" spc="-7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69993E"/>
                </a:solidFill>
                <a:latin typeface="Verdana"/>
                <a:cs typeface="Verdana"/>
              </a:rPr>
              <a:t>N</a:t>
            </a:r>
            <a:r>
              <a:rPr dirty="0" sz="1350">
                <a:solidFill>
                  <a:srgbClr val="69993E"/>
                </a:solidFill>
                <a:latin typeface="Verdana"/>
                <a:cs typeface="Verdana"/>
              </a:rPr>
              <a:t>	</a:t>
            </a:r>
            <a:r>
              <a:rPr dirty="0" sz="1350" spc="-80">
                <a:solidFill>
                  <a:srgbClr val="69993E"/>
                </a:solidFill>
                <a:latin typeface="Verdana"/>
                <a:cs typeface="Verdana"/>
              </a:rPr>
              <a:t>P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65">
                <a:solidFill>
                  <a:srgbClr val="69993E"/>
                </a:solidFill>
                <a:latin typeface="Verdana"/>
                <a:cs typeface="Verdana"/>
              </a:rPr>
              <a:t>R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35">
                <a:solidFill>
                  <a:srgbClr val="69993E"/>
                </a:solidFill>
                <a:latin typeface="Verdana"/>
                <a:cs typeface="Verdana"/>
              </a:rPr>
              <a:t>O</a:t>
            </a:r>
            <a:r>
              <a:rPr dirty="0" sz="1350" spc="-7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229">
                <a:solidFill>
                  <a:srgbClr val="69993E"/>
                </a:solidFill>
                <a:latin typeface="Verdana"/>
                <a:cs typeface="Verdana"/>
              </a:rPr>
              <a:t>J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95">
                <a:solidFill>
                  <a:srgbClr val="69993E"/>
                </a:solidFill>
                <a:latin typeface="Verdana"/>
                <a:cs typeface="Verdana"/>
              </a:rPr>
              <a:t>E</a:t>
            </a:r>
            <a:r>
              <a:rPr dirty="0" sz="1350" spc="-7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69993E"/>
                </a:solidFill>
                <a:latin typeface="Verdana"/>
                <a:cs typeface="Verdana"/>
              </a:rPr>
              <a:t>C</a:t>
            </a:r>
            <a:r>
              <a:rPr dirty="0" sz="1350" spc="-7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69993E"/>
                </a:solidFill>
                <a:latin typeface="Verdana"/>
                <a:cs typeface="Verdana"/>
              </a:rPr>
              <a:t>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4144" y="828480"/>
            <a:ext cx="3599815" cy="1271905"/>
          </a:xfrm>
          <a:prstGeom prst="rect"/>
        </p:spPr>
        <p:txBody>
          <a:bodyPr wrap="square" lIns="0" tIns="104775" rIns="0" bIns="0" rtlCol="0" vert="horz">
            <a:spAutoFit/>
          </a:bodyPr>
          <a:lstStyle/>
          <a:p>
            <a:pPr marL="12700" marR="5080">
              <a:lnSpc>
                <a:spcPts val="4560"/>
              </a:lnSpc>
              <a:spcBef>
                <a:spcPts val="825"/>
              </a:spcBef>
            </a:pPr>
            <a:r>
              <a:rPr dirty="0" sz="4350" spc="-340"/>
              <a:t>Drone</a:t>
            </a:r>
            <a:r>
              <a:rPr dirty="0" sz="4350" spc="-535"/>
              <a:t> </a:t>
            </a:r>
            <a:r>
              <a:rPr dirty="0" sz="4350" spc="-305"/>
              <a:t>Delivery </a:t>
            </a:r>
            <a:r>
              <a:rPr dirty="0" sz="4350" spc="-250"/>
              <a:t>Path</a:t>
            </a:r>
            <a:r>
              <a:rPr dirty="0" sz="4350" spc="-515"/>
              <a:t> </a:t>
            </a:r>
            <a:r>
              <a:rPr dirty="0" sz="4350" spc="-270"/>
              <a:t>Planner</a:t>
            </a:r>
            <a:endParaRPr sz="4350"/>
          </a:p>
        </p:txBody>
      </p:sp>
      <p:sp>
        <p:nvSpPr>
          <p:cNvPr id="7" name="object 7"/>
          <p:cNvSpPr txBox="1"/>
          <p:nvPr/>
        </p:nvSpPr>
        <p:spPr>
          <a:xfrm>
            <a:off x="444144" y="2364386"/>
            <a:ext cx="3818254" cy="238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3215">
              <a:lnSpc>
                <a:spcPct val="100000"/>
              </a:lnSpc>
              <a:spcBef>
                <a:spcPts val="100"/>
              </a:spcBef>
            </a:pPr>
            <a:r>
              <a:rPr dirty="0" sz="1500" spc="65" i="1">
                <a:solidFill>
                  <a:srgbClr val="4B792D"/>
                </a:solidFill>
                <a:latin typeface="Calibri"/>
                <a:cs typeface="Calibri"/>
              </a:rPr>
              <a:t>Smarter</a:t>
            </a:r>
            <a:r>
              <a:rPr dirty="0" sz="1500" spc="17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4B792D"/>
                </a:solidFill>
                <a:latin typeface="Calibri"/>
                <a:cs typeface="Calibri"/>
              </a:rPr>
              <a:t>Routes.</a:t>
            </a:r>
            <a:r>
              <a:rPr dirty="0" sz="1500" spc="17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4B792D"/>
                </a:solidFill>
                <a:latin typeface="Calibri"/>
                <a:cs typeface="Calibri"/>
              </a:rPr>
              <a:t>Better</a:t>
            </a:r>
            <a:r>
              <a:rPr dirty="0" sz="1500" spc="17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500" spc="45" i="1">
                <a:solidFill>
                  <a:srgbClr val="4B792D"/>
                </a:solidFill>
                <a:latin typeface="Calibri"/>
                <a:cs typeface="Calibri"/>
              </a:rPr>
              <a:t>Priorities.</a:t>
            </a:r>
            <a:r>
              <a:rPr dirty="0" sz="1500" spc="17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4B792D"/>
                </a:solidFill>
                <a:latin typeface="Calibri"/>
                <a:cs typeface="Calibri"/>
              </a:rPr>
              <a:t>Efficient</a:t>
            </a:r>
            <a:r>
              <a:rPr dirty="0" sz="1500" spc="-1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4B792D"/>
                </a:solidFill>
                <a:latin typeface="Calibri"/>
                <a:cs typeface="Calibri"/>
              </a:rPr>
              <a:t>Battery</a:t>
            </a:r>
            <a:r>
              <a:rPr dirty="0" sz="1500" spc="32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500" spc="40" i="1">
                <a:solidFill>
                  <a:srgbClr val="4B792D"/>
                </a:solidFill>
                <a:latin typeface="Calibri"/>
                <a:cs typeface="Calibri"/>
              </a:rPr>
              <a:t>Usage.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60"/>
              </a:spcBef>
            </a:pPr>
            <a:r>
              <a:rPr dirty="0" sz="1300">
                <a:solidFill>
                  <a:srgbClr val="6A795D"/>
                </a:solidFill>
                <a:latin typeface="Tahoma"/>
                <a:cs typeface="Tahoma"/>
              </a:rPr>
              <a:t>Route</a:t>
            </a:r>
            <a:r>
              <a:rPr dirty="0" sz="1300" spc="2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6A795D"/>
                </a:solidFill>
                <a:latin typeface="Tahoma"/>
                <a:cs typeface="Tahoma"/>
              </a:rPr>
              <a:t>optimization</a:t>
            </a:r>
            <a:r>
              <a:rPr dirty="0" sz="1300" spc="2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6A795D"/>
                </a:solidFill>
                <a:latin typeface="Tahoma"/>
                <a:cs typeface="Tahoma"/>
              </a:rPr>
              <a:t>with</a:t>
            </a:r>
            <a:r>
              <a:rPr dirty="0" sz="1300" spc="2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6A795D"/>
                </a:solidFill>
                <a:latin typeface="Tahoma"/>
                <a:cs typeface="Tahoma"/>
              </a:rPr>
              <a:t>Dijkstra,</a:t>
            </a:r>
            <a:r>
              <a:rPr dirty="0" sz="1300" spc="3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6A795D"/>
                </a:solidFill>
                <a:latin typeface="Tahoma"/>
                <a:cs typeface="Tahoma"/>
              </a:rPr>
              <a:t>TSP</a:t>
            </a:r>
            <a:r>
              <a:rPr dirty="0" sz="1300" spc="2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6A795D"/>
                </a:solidFill>
                <a:latin typeface="Tahoma"/>
                <a:cs typeface="Tahoma"/>
              </a:rPr>
              <a:t>and</a:t>
            </a:r>
            <a:r>
              <a:rPr dirty="0" sz="1300" spc="2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6A795D"/>
                </a:solidFill>
                <a:latin typeface="Tahoma"/>
                <a:cs typeface="Tahoma"/>
              </a:rPr>
              <a:t>Priority </a:t>
            </a:r>
            <a:r>
              <a:rPr dirty="0" sz="1300" spc="55">
                <a:solidFill>
                  <a:srgbClr val="6A795D"/>
                </a:solidFill>
                <a:latin typeface="Tahoma"/>
                <a:cs typeface="Tahoma"/>
              </a:rPr>
              <a:t>Queue</a:t>
            </a:r>
            <a:r>
              <a:rPr dirty="0" sz="1300" spc="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6A795D"/>
                </a:solidFill>
                <a:latin typeface="Tahoma"/>
                <a:cs typeface="Tahoma"/>
              </a:rPr>
              <a:t>under</a:t>
            </a:r>
            <a:r>
              <a:rPr dirty="0" sz="1300" spc="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6A795D"/>
                </a:solidFill>
                <a:latin typeface="Tahoma"/>
                <a:cs typeface="Tahoma"/>
              </a:rPr>
              <a:t>distance,</a:t>
            </a:r>
            <a:r>
              <a:rPr dirty="0" sz="1300" spc="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6A795D"/>
                </a:solidFill>
                <a:latin typeface="Tahoma"/>
                <a:cs typeface="Tahoma"/>
              </a:rPr>
              <a:t>battery</a:t>
            </a:r>
            <a:r>
              <a:rPr dirty="0" sz="1300" spc="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6A795D"/>
                </a:solidFill>
                <a:latin typeface="Tahoma"/>
                <a:cs typeface="Tahoma"/>
              </a:rPr>
              <a:t>and</a:t>
            </a:r>
            <a:r>
              <a:rPr dirty="0" sz="1300" spc="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6A795D"/>
                </a:solidFill>
                <a:latin typeface="Tahoma"/>
                <a:cs typeface="Tahoma"/>
              </a:rPr>
              <a:t>priority </a:t>
            </a:r>
            <a:r>
              <a:rPr dirty="0" sz="1300" spc="-10">
                <a:solidFill>
                  <a:srgbClr val="6A795D"/>
                </a:solidFill>
                <a:latin typeface="Tahoma"/>
                <a:cs typeface="Tahoma"/>
              </a:rPr>
              <a:t>constraints.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145">
                <a:solidFill>
                  <a:srgbClr val="69993E"/>
                </a:solidFill>
                <a:latin typeface="Verdana"/>
                <a:cs typeface="Verdana"/>
              </a:rPr>
              <a:t>T</a:t>
            </a:r>
            <a:r>
              <a:rPr dirty="0" sz="1150" spc="-10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150" spc="-180">
                <a:solidFill>
                  <a:srgbClr val="69993E"/>
                </a:solidFill>
                <a:latin typeface="Verdana"/>
                <a:cs typeface="Verdana"/>
              </a:rPr>
              <a:t>E</a:t>
            </a:r>
            <a:r>
              <a:rPr dirty="0" sz="1150" spc="-10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150" spc="-110">
                <a:solidFill>
                  <a:srgbClr val="69993E"/>
                </a:solidFill>
                <a:latin typeface="Verdana"/>
                <a:cs typeface="Verdana"/>
              </a:rPr>
              <a:t>A</a:t>
            </a:r>
            <a:r>
              <a:rPr dirty="0" sz="1150" spc="-10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69993E"/>
                </a:solidFill>
                <a:latin typeface="Verdana"/>
                <a:cs typeface="Verdana"/>
              </a:rPr>
              <a:t>M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200" spc="-120">
                <a:solidFill>
                  <a:srgbClr val="293A21"/>
                </a:solidFill>
                <a:latin typeface="Tahoma"/>
                <a:cs typeface="Tahoma"/>
              </a:rPr>
              <a:t>J.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93A21"/>
                </a:solidFill>
                <a:latin typeface="Tahoma"/>
                <a:cs typeface="Tahoma"/>
              </a:rPr>
              <a:t>Ravi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93A21"/>
                </a:solidFill>
                <a:latin typeface="Tahoma"/>
                <a:cs typeface="Tahoma"/>
              </a:rPr>
              <a:t>Kumar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 spc="-114">
                <a:solidFill>
                  <a:srgbClr val="293A21"/>
                </a:solidFill>
                <a:latin typeface="Tahoma"/>
                <a:cs typeface="Tahoma"/>
              </a:rPr>
              <a:t>·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 spc="55">
                <a:solidFill>
                  <a:srgbClr val="293A21"/>
                </a:solidFill>
                <a:latin typeface="Tahoma"/>
                <a:cs typeface="Tahoma"/>
              </a:rPr>
              <a:t>M.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93A21"/>
                </a:solidFill>
                <a:latin typeface="Tahoma"/>
                <a:cs typeface="Tahoma"/>
              </a:rPr>
              <a:t>Saketh</a:t>
            </a:r>
            <a:r>
              <a:rPr dirty="0" sz="1200" spc="-1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 spc="-114">
                <a:solidFill>
                  <a:srgbClr val="293A21"/>
                </a:solidFill>
                <a:latin typeface="Tahoma"/>
                <a:cs typeface="Tahoma"/>
              </a:rPr>
              <a:t>·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93A21"/>
                </a:solidFill>
                <a:latin typeface="Tahoma"/>
                <a:cs typeface="Tahoma"/>
              </a:rPr>
              <a:t>G.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93A21"/>
                </a:solidFill>
                <a:latin typeface="Tahoma"/>
                <a:cs typeface="Tahoma"/>
              </a:rPr>
              <a:t>Tharak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 spc="-114">
                <a:solidFill>
                  <a:srgbClr val="293A21"/>
                </a:solidFill>
                <a:latin typeface="Tahoma"/>
                <a:cs typeface="Tahoma"/>
              </a:rPr>
              <a:t>·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293A21"/>
                </a:solidFill>
                <a:latin typeface="Tahoma"/>
                <a:cs typeface="Tahoma"/>
              </a:rPr>
              <a:t>L.</a:t>
            </a:r>
            <a:r>
              <a:rPr dirty="0" sz="12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200" spc="45">
                <a:solidFill>
                  <a:srgbClr val="293A21"/>
                </a:solidFill>
                <a:latin typeface="Tahoma"/>
                <a:cs typeface="Tahoma"/>
              </a:rPr>
              <a:t>Gowtham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1000">
                <a:solidFill>
                  <a:srgbClr val="6A795D"/>
                </a:solidFill>
                <a:latin typeface="Tahoma"/>
                <a:cs typeface="Tahoma"/>
              </a:rPr>
              <a:t>Domain:</a:t>
            </a:r>
            <a:r>
              <a:rPr dirty="0" sz="1000" spc="10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A795D"/>
                </a:solidFill>
                <a:latin typeface="Tahoma"/>
                <a:cs typeface="Tahoma"/>
              </a:rPr>
              <a:t>Route</a:t>
            </a:r>
            <a:r>
              <a:rPr dirty="0" sz="1000" spc="9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A795D"/>
                </a:solidFill>
                <a:latin typeface="Tahoma"/>
                <a:cs typeface="Tahoma"/>
              </a:rPr>
              <a:t>Planning</a:t>
            </a:r>
            <a:r>
              <a:rPr dirty="0" sz="1000" spc="10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 spc="-90">
                <a:solidFill>
                  <a:srgbClr val="6A795D"/>
                </a:solidFill>
                <a:latin typeface="Tahoma"/>
                <a:cs typeface="Tahoma"/>
              </a:rPr>
              <a:t>·</a:t>
            </a:r>
            <a:r>
              <a:rPr dirty="0" sz="1000" spc="10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A795D"/>
                </a:solidFill>
                <a:latin typeface="Tahoma"/>
                <a:cs typeface="Tahoma"/>
              </a:rPr>
              <a:t>Design</a:t>
            </a:r>
            <a:r>
              <a:rPr dirty="0" sz="1000" spc="9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6A795D"/>
                </a:solidFill>
                <a:latin typeface="Tahoma"/>
                <a:cs typeface="Tahoma"/>
              </a:rPr>
              <a:t>&amp;</a:t>
            </a:r>
            <a:r>
              <a:rPr dirty="0" sz="1000" spc="10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A795D"/>
                </a:solidFill>
                <a:latin typeface="Tahoma"/>
                <a:cs typeface="Tahoma"/>
              </a:rPr>
              <a:t>Analysis</a:t>
            </a:r>
            <a:r>
              <a:rPr dirty="0" sz="1000" spc="10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A795D"/>
                </a:solidFill>
                <a:latin typeface="Tahoma"/>
                <a:cs typeface="Tahoma"/>
              </a:rPr>
              <a:t>of</a:t>
            </a:r>
            <a:r>
              <a:rPr dirty="0" sz="1000" spc="9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A795D"/>
                </a:solidFill>
                <a:latin typeface="Tahoma"/>
                <a:cs typeface="Tahoma"/>
              </a:rPr>
              <a:t>Algorithms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50"/>
              <a:t>The</a:t>
            </a:r>
            <a:r>
              <a:rPr dirty="0" spc="-484"/>
              <a:t> </a:t>
            </a:r>
            <a:r>
              <a:rPr dirty="0" spc="-285"/>
              <a:t>Challenge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1143002"/>
            <a:ext cx="2240280" cy="777240"/>
            <a:chOff x="457200" y="1143002"/>
            <a:chExt cx="2240280" cy="777240"/>
          </a:xfrm>
        </p:grpSpPr>
        <p:sp>
          <p:nvSpPr>
            <p:cNvPr id="5" name="object 5"/>
            <p:cNvSpPr/>
            <p:nvPr/>
          </p:nvSpPr>
          <p:spPr>
            <a:xfrm>
              <a:off x="457200" y="1143001"/>
              <a:ext cx="2240280" cy="777240"/>
            </a:xfrm>
            <a:custGeom>
              <a:avLst/>
              <a:gdLst/>
              <a:ahLst/>
              <a:cxnLst/>
              <a:rect l="l" t="t" r="r" b="b"/>
              <a:pathLst>
                <a:path w="2240280" h="777239">
                  <a:moveTo>
                    <a:pt x="2239924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1119962" y="776884"/>
                  </a:lnTo>
                  <a:lnTo>
                    <a:pt x="2239924" y="776884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37" y="1412280"/>
              <a:ext cx="228244" cy="2282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30300" y="1320738"/>
            <a:ext cx="120523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45">
                <a:solidFill>
                  <a:srgbClr val="293A21"/>
                </a:solidFill>
                <a:latin typeface="Tahoma"/>
                <a:cs typeface="Tahoma"/>
              </a:rPr>
              <a:t>Limited</a:t>
            </a:r>
            <a:r>
              <a:rPr dirty="0" sz="1300" spc="-6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93A21"/>
                </a:solidFill>
                <a:latin typeface="Tahoma"/>
                <a:cs typeface="Tahoma"/>
              </a:rPr>
              <a:t>battery capacity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34639" y="1143002"/>
            <a:ext cx="2240280" cy="777240"/>
            <a:chOff x="2834639" y="1143002"/>
            <a:chExt cx="2240280" cy="777240"/>
          </a:xfrm>
        </p:grpSpPr>
        <p:sp>
          <p:nvSpPr>
            <p:cNvPr id="9" name="object 9"/>
            <p:cNvSpPr/>
            <p:nvPr/>
          </p:nvSpPr>
          <p:spPr>
            <a:xfrm>
              <a:off x="2834640" y="1143001"/>
              <a:ext cx="2240280" cy="777240"/>
            </a:xfrm>
            <a:custGeom>
              <a:avLst/>
              <a:gdLst/>
              <a:ahLst/>
              <a:cxnLst/>
              <a:rect l="l" t="t" r="r" b="b"/>
              <a:pathLst>
                <a:path w="2240279" h="777239">
                  <a:moveTo>
                    <a:pt x="2239924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1119962" y="776884"/>
                  </a:lnTo>
                  <a:lnTo>
                    <a:pt x="2239924" y="776884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6277" y="1412280"/>
              <a:ext cx="228244" cy="2282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507740" y="1320738"/>
            <a:ext cx="136334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10">
                <a:solidFill>
                  <a:srgbClr val="293A21"/>
                </a:solidFill>
                <a:latin typeface="Tahoma"/>
                <a:cs typeface="Tahoma"/>
              </a:rPr>
              <a:t>Different</a:t>
            </a:r>
            <a:r>
              <a:rPr dirty="0" sz="1300" spc="18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93A21"/>
                </a:solidFill>
                <a:latin typeface="Tahoma"/>
                <a:cs typeface="Tahoma"/>
              </a:rPr>
              <a:t>delivery </a:t>
            </a:r>
            <a:r>
              <a:rPr dirty="0" sz="1300" spc="35">
                <a:solidFill>
                  <a:srgbClr val="293A21"/>
                </a:solidFill>
                <a:latin typeface="Tahoma"/>
                <a:cs typeface="Tahoma"/>
              </a:rPr>
              <a:t>priorities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2057401"/>
            <a:ext cx="2240280" cy="777240"/>
            <a:chOff x="457200" y="2057401"/>
            <a:chExt cx="2240280" cy="777240"/>
          </a:xfrm>
        </p:grpSpPr>
        <p:sp>
          <p:nvSpPr>
            <p:cNvPr id="13" name="object 13"/>
            <p:cNvSpPr/>
            <p:nvPr/>
          </p:nvSpPr>
          <p:spPr>
            <a:xfrm>
              <a:off x="457200" y="2057401"/>
              <a:ext cx="2240280" cy="777240"/>
            </a:xfrm>
            <a:custGeom>
              <a:avLst/>
              <a:gdLst/>
              <a:ahLst/>
              <a:cxnLst/>
              <a:rect l="l" t="t" r="r" b="b"/>
              <a:pathLst>
                <a:path w="2240280" h="777239">
                  <a:moveTo>
                    <a:pt x="2239924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1119962" y="776884"/>
                  </a:lnTo>
                  <a:lnTo>
                    <a:pt x="2239924" y="776884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837" y="2326680"/>
              <a:ext cx="228244" cy="22824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30300" y="2235138"/>
            <a:ext cx="97790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45">
                <a:solidFill>
                  <a:srgbClr val="293A21"/>
                </a:solidFill>
                <a:latin typeface="Tahoma"/>
                <a:cs typeface="Tahoma"/>
              </a:rPr>
              <a:t>Multiple </a:t>
            </a:r>
            <a:r>
              <a:rPr dirty="0" sz="1300" spc="35">
                <a:solidFill>
                  <a:srgbClr val="293A21"/>
                </a:solidFill>
                <a:latin typeface="Tahoma"/>
                <a:cs typeface="Tahoma"/>
              </a:rPr>
              <a:t>destinations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34639" y="2057401"/>
            <a:ext cx="2240280" cy="777240"/>
            <a:chOff x="2834639" y="2057401"/>
            <a:chExt cx="2240280" cy="777240"/>
          </a:xfrm>
        </p:grpSpPr>
        <p:sp>
          <p:nvSpPr>
            <p:cNvPr id="17" name="object 17"/>
            <p:cNvSpPr/>
            <p:nvPr/>
          </p:nvSpPr>
          <p:spPr>
            <a:xfrm>
              <a:off x="2834640" y="2057401"/>
              <a:ext cx="2240280" cy="777240"/>
            </a:xfrm>
            <a:custGeom>
              <a:avLst/>
              <a:gdLst/>
              <a:ahLst/>
              <a:cxnLst/>
              <a:rect l="l" t="t" r="r" b="b"/>
              <a:pathLst>
                <a:path w="2240279" h="777239">
                  <a:moveTo>
                    <a:pt x="2239924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1119962" y="776884"/>
                  </a:lnTo>
                  <a:lnTo>
                    <a:pt x="2239924" y="776884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6277" y="2326680"/>
              <a:ext cx="228244" cy="2282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507740" y="2235138"/>
            <a:ext cx="108966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Varying</a:t>
            </a:r>
            <a:r>
              <a:rPr dirty="0" sz="1300" spc="18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93A21"/>
                </a:solidFill>
                <a:latin typeface="Tahoma"/>
                <a:cs typeface="Tahoma"/>
              </a:rPr>
              <a:t>travel distances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7200" y="2971801"/>
            <a:ext cx="2240280" cy="777240"/>
            <a:chOff x="457200" y="2971801"/>
            <a:chExt cx="2240280" cy="777240"/>
          </a:xfrm>
        </p:grpSpPr>
        <p:sp>
          <p:nvSpPr>
            <p:cNvPr id="21" name="object 21"/>
            <p:cNvSpPr/>
            <p:nvPr/>
          </p:nvSpPr>
          <p:spPr>
            <a:xfrm>
              <a:off x="457200" y="2971801"/>
              <a:ext cx="2240280" cy="777240"/>
            </a:xfrm>
            <a:custGeom>
              <a:avLst/>
              <a:gdLst/>
              <a:ahLst/>
              <a:cxnLst/>
              <a:rect l="l" t="t" r="r" b="b"/>
              <a:pathLst>
                <a:path w="2240280" h="777239">
                  <a:moveTo>
                    <a:pt x="2239924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1119962" y="776884"/>
                  </a:lnTo>
                  <a:lnTo>
                    <a:pt x="2239924" y="776884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37" y="3241080"/>
              <a:ext cx="228244" cy="22824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130300" y="3248547"/>
            <a:ext cx="149796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Route</a:t>
            </a:r>
            <a:r>
              <a:rPr dirty="0" sz="1300" spc="12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293A21"/>
                </a:solidFill>
                <a:latin typeface="Tahoma"/>
                <a:cs typeface="Tahoma"/>
              </a:rPr>
              <a:t>optimization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834639" y="2971801"/>
            <a:ext cx="2240280" cy="777240"/>
            <a:chOff x="2834639" y="2971801"/>
            <a:chExt cx="2240280" cy="777240"/>
          </a:xfrm>
        </p:grpSpPr>
        <p:sp>
          <p:nvSpPr>
            <p:cNvPr id="25" name="object 25"/>
            <p:cNvSpPr/>
            <p:nvPr/>
          </p:nvSpPr>
          <p:spPr>
            <a:xfrm>
              <a:off x="2834640" y="2971801"/>
              <a:ext cx="2240280" cy="777240"/>
            </a:xfrm>
            <a:custGeom>
              <a:avLst/>
              <a:gdLst/>
              <a:ahLst/>
              <a:cxnLst/>
              <a:rect l="l" t="t" r="r" b="b"/>
              <a:pathLst>
                <a:path w="2240279" h="777239">
                  <a:moveTo>
                    <a:pt x="2239924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1119962" y="776884"/>
                  </a:lnTo>
                  <a:lnTo>
                    <a:pt x="2239924" y="776884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86277" y="3241080"/>
              <a:ext cx="228244" cy="22824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507740" y="3149538"/>
            <a:ext cx="125158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Return</a:t>
            </a:r>
            <a:r>
              <a:rPr dirty="0" sz="1300" spc="5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293A21"/>
                </a:solidFill>
                <a:latin typeface="Tahoma"/>
                <a:cs typeface="Tahoma"/>
              </a:rPr>
              <a:t>to</a:t>
            </a:r>
            <a:r>
              <a:rPr dirty="0" sz="1300" spc="6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293A21"/>
                </a:solidFill>
                <a:latin typeface="Tahoma"/>
                <a:cs typeface="Tahoma"/>
              </a:rPr>
              <a:t>depot </a:t>
            </a:r>
            <a:r>
              <a:rPr dirty="0" sz="1300" spc="55">
                <a:solidFill>
                  <a:srgbClr val="293A21"/>
                </a:solidFill>
                <a:latin typeface="Tahoma"/>
                <a:cs typeface="Tahoma"/>
              </a:rPr>
              <a:t>when</a:t>
            </a:r>
            <a:r>
              <a:rPr dirty="0" sz="1300" spc="-7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293A21"/>
                </a:solidFill>
                <a:latin typeface="Tahoma"/>
                <a:cs typeface="Tahoma"/>
              </a:rPr>
              <a:t>required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394604" y="1143002"/>
            <a:ext cx="3291840" cy="2606040"/>
            <a:chOff x="5394604" y="1143002"/>
            <a:chExt cx="3291840" cy="2606040"/>
          </a:xfrm>
        </p:grpSpPr>
        <p:sp>
          <p:nvSpPr>
            <p:cNvPr id="29" name="object 29"/>
            <p:cNvSpPr/>
            <p:nvPr/>
          </p:nvSpPr>
          <p:spPr>
            <a:xfrm>
              <a:off x="5394604" y="1143002"/>
              <a:ext cx="3291840" cy="2606040"/>
            </a:xfrm>
            <a:custGeom>
              <a:avLst/>
              <a:gdLst/>
              <a:ahLst/>
              <a:cxnLst/>
              <a:rect l="l" t="t" r="r" b="b"/>
              <a:pathLst>
                <a:path w="3291840" h="2606040">
                  <a:moveTo>
                    <a:pt x="3291471" y="0"/>
                  </a:moveTo>
                  <a:lnTo>
                    <a:pt x="0" y="0"/>
                  </a:lnTo>
                  <a:lnTo>
                    <a:pt x="0" y="2605684"/>
                  </a:lnTo>
                  <a:lnTo>
                    <a:pt x="1645919" y="2605684"/>
                  </a:lnTo>
                  <a:lnTo>
                    <a:pt x="3291471" y="2605684"/>
                  </a:lnTo>
                  <a:lnTo>
                    <a:pt x="3291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577484" y="30628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124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2317" y="3177351"/>
              <a:ext cx="228244" cy="22824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394604" y="1143002"/>
            <a:ext cx="3291840" cy="2606040"/>
          </a:xfrm>
          <a:prstGeom prst="rect">
            <a:avLst/>
          </a:prstGeom>
          <a:ln w="19079">
            <a:solidFill>
              <a:srgbClr val="C1245B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dirty="0" sz="1250" spc="-190">
                <a:solidFill>
                  <a:srgbClr val="C1245B"/>
                </a:solidFill>
                <a:latin typeface="Verdana"/>
                <a:cs typeface="Verdana"/>
              </a:rPr>
              <a:t>E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130">
                <a:solidFill>
                  <a:srgbClr val="C1245B"/>
                </a:solidFill>
                <a:latin typeface="Verdana"/>
                <a:cs typeface="Verdana"/>
              </a:rPr>
              <a:t>X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100">
                <a:solidFill>
                  <a:srgbClr val="C1245B"/>
                </a:solidFill>
                <a:latin typeface="Verdana"/>
                <a:cs typeface="Verdana"/>
              </a:rPr>
              <a:t>A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C1245B"/>
                </a:solidFill>
                <a:latin typeface="Verdana"/>
                <a:cs typeface="Verdana"/>
              </a:rPr>
              <a:t>M</a:t>
            </a:r>
            <a:r>
              <a:rPr dirty="0" sz="1250" spc="-130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C1245B"/>
                </a:solidFill>
                <a:latin typeface="Verdana"/>
                <a:cs typeface="Verdana"/>
              </a:rPr>
              <a:t>P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90">
                <a:solidFill>
                  <a:srgbClr val="C1245B"/>
                </a:solidFill>
                <a:latin typeface="Verdana"/>
                <a:cs typeface="Verdana"/>
              </a:rPr>
              <a:t>L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C1245B"/>
                </a:solidFill>
                <a:latin typeface="Verdana"/>
                <a:cs typeface="Verdana"/>
              </a:rPr>
              <a:t>E</a:t>
            </a:r>
            <a:endParaRPr sz="1250">
              <a:latin typeface="Verdana"/>
              <a:cs typeface="Verdana"/>
            </a:endParaRPr>
          </a:p>
          <a:p>
            <a:pPr marL="182880">
              <a:lnSpc>
                <a:spcPts val="5280"/>
              </a:lnSpc>
              <a:spcBef>
                <a:spcPts val="270"/>
              </a:spcBef>
            </a:pPr>
            <a:r>
              <a:rPr dirty="0" sz="4600" spc="-650">
                <a:solidFill>
                  <a:srgbClr val="3D7B4E"/>
                </a:solidFill>
                <a:latin typeface="Verdana"/>
                <a:cs typeface="Verdana"/>
              </a:rPr>
              <a:t>100</a:t>
            </a:r>
            <a:r>
              <a:rPr dirty="0" sz="4600" spc="-940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6A795D"/>
                </a:solidFill>
                <a:latin typeface="Tahoma"/>
                <a:cs typeface="Tahoma"/>
              </a:rPr>
              <a:t>available</a:t>
            </a:r>
            <a:endParaRPr sz="1300">
              <a:latin typeface="Tahoma"/>
              <a:cs typeface="Tahoma"/>
            </a:endParaRPr>
          </a:p>
          <a:p>
            <a:pPr marL="182880">
              <a:lnSpc>
                <a:spcPts val="5280"/>
              </a:lnSpc>
            </a:pPr>
            <a:r>
              <a:rPr dirty="0" sz="4600" spc="-650">
                <a:solidFill>
                  <a:srgbClr val="C1245B"/>
                </a:solidFill>
                <a:latin typeface="Verdana"/>
                <a:cs typeface="Verdana"/>
              </a:rPr>
              <a:t>125</a:t>
            </a:r>
            <a:r>
              <a:rPr dirty="0" sz="4600" spc="-940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300" spc="40">
                <a:solidFill>
                  <a:srgbClr val="6A795D"/>
                </a:solidFill>
                <a:latin typeface="Tahoma"/>
                <a:cs typeface="Tahoma"/>
              </a:rPr>
              <a:t>required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ahoma"/>
              <a:cs typeface="Tahoma"/>
            </a:endParaRPr>
          </a:p>
          <a:p>
            <a:pPr marL="731520" marR="441325">
              <a:lnSpc>
                <a:spcPts val="1560"/>
              </a:lnSpc>
              <a:spcBef>
                <a:spcPts val="5"/>
              </a:spcBef>
            </a:pPr>
            <a:r>
              <a:rPr dirty="0" sz="1500" spc="-120">
                <a:solidFill>
                  <a:srgbClr val="293A21"/>
                </a:solidFill>
                <a:latin typeface="Verdana"/>
                <a:cs typeface="Verdana"/>
              </a:rPr>
              <a:t>Route</a:t>
            </a:r>
            <a:r>
              <a:rPr dirty="0" sz="1500" spc="-17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130">
                <a:solidFill>
                  <a:srgbClr val="293A21"/>
                </a:solidFill>
                <a:latin typeface="Verdana"/>
                <a:cs typeface="Verdana"/>
              </a:rPr>
              <a:t>Rejected</a:t>
            </a:r>
            <a:r>
              <a:rPr dirty="0" sz="1500" spc="-16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210">
                <a:solidFill>
                  <a:srgbClr val="293A21"/>
                </a:solidFill>
                <a:latin typeface="Verdana"/>
                <a:cs typeface="Verdana"/>
              </a:rPr>
              <a:t>—</a:t>
            </a:r>
            <a:r>
              <a:rPr dirty="0" sz="1500" spc="-17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85">
                <a:solidFill>
                  <a:srgbClr val="293A21"/>
                </a:solidFill>
                <a:latin typeface="Verdana"/>
                <a:cs typeface="Verdana"/>
              </a:rPr>
              <a:t>Battery </a:t>
            </a:r>
            <a:r>
              <a:rPr dirty="0" sz="1500" spc="-125">
                <a:solidFill>
                  <a:srgbClr val="293A21"/>
                </a:solidFill>
                <a:latin typeface="Verdana"/>
                <a:cs typeface="Verdana"/>
              </a:rPr>
              <a:t>Budget</a:t>
            </a:r>
            <a:r>
              <a:rPr dirty="0" sz="1500" spc="-15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293A21"/>
                </a:solidFill>
                <a:latin typeface="Verdana"/>
                <a:cs typeface="Verdana"/>
              </a:rPr>
              <a:t>Exceeded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144" y="4162947"/>
            <a:ext cx="75965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A</a:t>
            </a:r>
            <a:r>
              <a:rPr dirty="0" sz="1600" spc="12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route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that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50" i="1">
                <a:solidFill>
                  <a:srgbClr val="4B792D"/>
                </a:solidFill>
                <a:latin typeface="Calibri"/>
                <a:cs typeface="Calibri"/>
              </a:rPr>
              <a:t>is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too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75" i="1">
                <a:solidFill>
                  <a:srgbClr val="4B792D"/>
                </a:solidFill>
                <a:latin typeface="Calibri"/>
                <a:cs typeface="Calibri"/>
              </a:rPr>
              <a:t>long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75" i="1">
                <a:solidFill>
                  <a:srgbClr val="4B792D"/>
                </a:solidFill>
                <a:latin typeface="Calibri"/>
                <a:cs typeface="Calibri"/>
              </a:rPr>
              <a:t>may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exceed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the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45" i="1">
                <a:solidFill>
                  <a:srgbClr val="4B792D"/>
                </a:solidFill>
                <a:latin typeface="Calibri"/>
                <a:cs typeface="Calibri"/>
              </a:rPr>
              <a:t>drone's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4B792D"/>
                </a:solidFill>
                <a:latin typeface="Calibri"/>
                <a:cs typeface="Calibri"/>
              </a:rPr>
              <a:t>battery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65" i="1">
                <a:solidFill>
                  <a:srgbClr val="4B792D"/>
                </a:solidFill>
                <a:latin typeface="Calibri"/>
                <a:cs typeface="Calibri"/>
              </a:rPr>
              <a:t>budget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90" i="1">
                <a:solidFill>
                  <a:srgbClr val="4B792D"/>
                </a:solidFill>
                <a:latin typeface="Calibri"/>
                <a:cs typeface="Calibri"/>
              </a:rPr>
              <a:t>and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65" i="1">
                <a:solidFill>
                  <a:srgbClr val="4B792D"/>
                </a:solidFill>
                <a:latin typeface="Calibri"/>
                <a:cs typeface="Calibri"/>
              </a:rPr>
              <a:t>must</a:t>
            </a:r>
            <a:r>
              <a:rPr dirty="0" sz="1600" spc="1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60" i="1">
                <a:solidFill>
                  <a:srgbClr val="4B792D"/>
                </a:solidFill>
                <a:latin typeface="Calibri"/>
                <a:cs typeface="Calibri"/>
              </a:rPr>
              <a:t>be</a:t>
            </a:r>
            <a:r>
              <a:rPr dirty="0" sz="1600" spc="12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4B792D"/>
                </a:solidFill>
                <a:latin typeface="Calibri"/>
                <a:cs typeface="Calibri"/>
              </a:rPr>
              <a:t>rejected.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4" name="object 34" descr="challenge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18119" y="4480206"/>
            <a:ext cx="856437" cy="566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03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80"/>
              <a:t>Our</a:t>
            </a:r>
            <a:r>
              <a:rPr dirty="0" spc="-490"/>
              <a:t> </a:t>
            </a:r>
            <a:r>
              <a:rPr dirty="0" spc="-270"/>
              <a:t>Innovation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1096926"/>
            <a:ext cx="1691639" cy="2103120"/>
            <a:chOff x="457200" y="1096926"/>
            <a:chExt cx="1691639" cy="2103120"/>
          </a:xfrm>
        </p:grpSpPr>
        <p:sp>
          <p:nvSpPr>
            <p:cNvPr id="5" name="object 5"/>
            <p:cNvSpPr/>
            <p:nvPr/>
          </p:nvSpPr>
          <p:spPr>
            <a:xfrm>
              <a:off x="457200" y="1096926"/>
              <a:ext cx="1691639" cy="2103120"/>
            </a:xfrm>
            <a:custGeom>
              <a:avLst/>
              <a:gdLst/>
              <a:ahLst/>
              <a:cxnLst/>
              <a:rect l="l" t="t" r="r" b="b"/>
              <a:pathLst>
                <a:path w="1691639" h="2103120">
                  <a:moveTo>
                    <a:pt x="1691284" y="0"/>
                  </a:moveTo>
                  <a:lnTo>
                    <a:pt x="0" y="0"/>
                  </a:lnTo>
                  <a:lnTo>
                    <a:pt x="0" y="2102751"/>
                  </a:lnTo>
                  <a:lnTo>
                    <a:pt x="845642" y="2102751"/>
                  </a:lnTo>
                  <a:lnTo>
                    <a:pt x="1691284" y="210275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96926"/>
              <a:ext cx="1691639" cy="54610"/>
            </a:xfrm>
            <a:custGeom>
              <a:avLst/>
              <a:gdLst/>
              <a:ahLst/>
              <a:cxnLst/>
              <a:rect l="l" t="t" r="r" b="b"/>
              <a:pathLst>
                <a:path w="1691639" h="54609">
                  <a:moveTo>
                    <a:pt x="169128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845642" y="54355"/>
                  </a:lnTo>
                  <a:lnTo>
                    <a:pt x="1691284" y="54355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004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20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81304" y="1893932"/>
            <a:ext cx="1412875" cy="95376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00" spc="-75">
                <a:solidFill>
                  <a:srgbClr val="293A21"/>
                </a:solidFill>
                <a:latin typeface="Verdana"/>
                <a:cs typeface="Verdana"/>
              </a:rPr>
              <a:t>Priority</a:t>
            </a:r>
            <a:r>
              <a:rPr dirty="0" sz="1700" spc="-14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700" spc="-110">
                <a:solidFill>
                  <a:srgbClr val="293A21"/>
                </a:solidFill>
                <a:latin typeface="Verdana"/>
                <a:cs typeface="Verdana"/>
              </a:rPr>
              <a:t>Queue</a:t>
            </a:r>
            <a:endParaRPr sz="1700">
              <a:latin typeface="Verdana"/>
              <a:cs typeface="Verdana"/>
            </a:endParaRPr>
          </a:p>
          <a:p>
            <a:pPr marL="12700" marR="81915">
              <a:lnSpc>
                <a:spcPct val="100000"/>
              </a:lnSpc>
              <a:spcBef>
                <a:spcPts val="500"/>
              </a:spcBef>
            </a:pP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Selects</a:t>
            </a:r>
            <a:r>
              <a:rPr dirty="0" sz="1100" spc="14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deliveries</a:t>
            </a:r>
            <a:r>
              <a:rPr dirty="0" sz="1100" spc="14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6A795D"/>
                </a:solidFill>
                <a:latin typeface="Tahoma"/>
                <a:cs typeface="Tahoma"/>
              </a:rPr>
              <a:t>by </a:t>
            </a: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priority:</a:t>
            </a:r>
            <a:r>
              <a:rPr dirty="0" sz="1100" spc="6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6A795D"/>
                </a:solidFill>
                <a:latin typeface="Tahoma"/>
                <a:cs typeface="Tahoma"/>
              </a:rPr>
              <a:t>High</a:t>
            </a:r>
            <a:r>
              <a:rPr dirty="0" sz="1100" spc="8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95D"/>
                </a:solidFill>
                <a:latin typeface="Arial"/>
                <a:cs typeface="Arial"/>
              </a:rPr>
              <a:t>→ </a:t>
            </a:r>
            <a:r>
              <a:rPr dirty="0" sz="1100" spc="70">
                <a:solidFill>
                  <a:srgbClr val="6A795D"/>
                </a:solidFill>
                <a:latin typeface="Tahoma"/>
                <a:cs typeface="Tahoma"/>
              </a:rPr>
              <a:t>Medium</a:t>
            </a:r>
            <a:r>
              <a:rPr dirty="0" sz="1100" spc="-3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95">
                <a:solidFill>
                  <a:srgbClr val="6A795D"/>
                </a:solidFill>
                <a:latin typeface="Arial"/>
                <a:cs typeface="Arial"/>
              </a:rPr>
              <a:t>→</a:t>
            </a:r>
            <a:r>
              <a:rPr dirty="0" sz="1100" spc="-5">
                <a:solidFill>
                  <a:srgbClr val="6A795D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6A795D"/>
                </a:solidFill>
                <a:latin typeface="Tahoma"/>
                <a:cs typeface="Tahoma"/>
              </a:rPr>
              <a:t>Low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31720" y="1096926"/>
            <a:ext cx="1691639" cy="2103120"/>
            <a:chOff x="2331720" y="1096926"/>
            <a:chExt cx="1691639" cy="2103120"/>
          </a:xfrm>
        </p:grpSpPr>
        <p:sp>
          <p:nvSpPr>
            <p:cNvPr id="11" name="object 11"/>
            <p:cNvSpPr/>
            <p:nvPr/>
          </p:nvSpPr>
          <p:spPr>
            <a:xfrm>
              <a:off x="2331720" y="1096926"/>
              <a:ext cx="1691639" cy="2103120"/>
            </a:xfrm>
            <a:custGeom>
              <a:avLst/>
              <a:gdLst/>
              <a:ahLst/>
              <a:cxnLst/>
              <a:rect l="l" t="t" r="r" b="b"/>
              <a:pathLst>
                <a:path w="1691639" h="2103120">
                  <a:moveTo>
                    <a:pt x="1691284" y="0"/>
                  </a:moveTo>
                  <a:lnTo>
                    <a:pt x="0" y="0"/>
                  </a:lnTo>
                  <a:lnTo>
                    <a:pt x="0" y="2102751"/>
                  </a:lnTo>
                  <a:lnTo>
                    <a:pt x="845642" y="2102751"/>
                  </a:lnTo>
                  <a:lnTo>
                    <a:pt x="1691284" y="210275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31720" y="1096926"/>
              <a:ext cx="1691639" cy="54610"/>
            </a:xfrm>
            <a:custGeom>
              <a:avLst/>
              <a:gdLst/>
              <a:ahLst/>
              <a:cxnLst/>
              <a:rect l="l" t="t" r="r" b="b"/>
              <a:pathLst>
                <a:path w="1691639" h="54609">
                  <a:moveTo>
                    <a:pt x="169128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845642" y="54355"/>
                  </a:lnTo>
                  <a:lnTo>
                    <a:pt x="1691284" y="54355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68524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0"/>
                  </a:moveTo>
                  <a:lnTo>
                    <a:pt x="203306" y="9313"/>
                  </a:lnTo>
                  <a:lnTo>
                    <a:pt x="137159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19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39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6040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455824" y="1893932"/>
            <a:ext cx="1294130" cy="95376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00" spc="-10">
                <a:solidFill>
                  <a:srgbClr val="293A21"/>
                </a:solidFill>
                <a:latin typeface="Verdana"/>
                <a:cs typeface="Verdana"/>
              </a:rPr>
              <a:t>Dijkstra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Finds</a:t>
            </a:r>
            <a:r>
              <a:rPr dirty="0" sz="1100" spc="11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the</a:t>
            </a:r>
            <a:r>
              <a:rPr dirty="0" sz="1100" spc="114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shortest</a:t>
            </a:r>
            <a:r>
              <a:rPr dirty="0" sz="1100" spc="11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6A795D"/>
                </a:solidFill>
                <a:latin typeface="Tahoma"/>
                <a:cs typeface="Tahoma"/>
              </a:rPr>
              <a:t>/ </a:t>
            </a: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least-cost</a:t>
            </a:r>
            <a:r>
              <a:rPr dirty="0" sz="1100" spc="21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A795D"/>
                </a:solidFill>
                <a:latin typeface="Tahoma"/>
                <a:cs typeface="Tahoma"/>
              </a:rPr>
              <a:t>path </a:t>
            </a:r>
            <a:r>
              <a:rPr dirty="0" sz="1100" spc="45">
                <a:solidFill>
                  <a:srgbClr val="6A795D"/>
                </a:solidFill>
                <a:latin typeface="Tahoma"/>
                <a:cs typeface="Tahoma"/>
              </a:rPr>
              <a:t>between</a:t>
            </a:r>
            <a:r>
              <a:rPr dirty="0" sz="1100" spc="-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locations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06240" y="1096926"/>
            <a:ext cx="1691639" cy="2103120"/>
            <a:chOff x="4206240" y="1096926"/>
            <a:chExt cx="1691639" cy="2103120"/>
          </a:xfrm>
        </p:grpSpPr>
        <p:sp>
          <p:nvSpPr>
            <p:cNvPr id="17" name="object 17"/>
            <p:cNvSpPr/>
            <p:nvPr/>
          </p:nvSpPr>
          <p:spPr>
            <a:xfrm>
              <a:off x="4206240" y="1096926"/>
              <a:ext cx="1691639" cy="2103120"/>
            </a:xfrm>
            <a:custGeom>
              <a:avLst/>
              <a:gdLst/>
              <a:ahLst/>
              <a:cxnLst/>
              <a:rect l="l" t="t" r="r" b="b"/>
              <a:pathLst>
                <a:path w="1691639" h="2103120">
                  <a:moveTo>
                    <a:pt x="1691284" y="0"/>
                  </a:moveTo>
                  <a:lnTo>
                    <a:pt x="0" y="0"/>
                  </a:lnTo>
                  <a:lnTo>
                    <a:pt x="0" y="2102751"/>
                  </a:lnTo>
                  <a:lnTo>
                    <a:pt x="845642" y="2102751"/>
                  </a:lnTo>
                  <a:lnTo>
                    <a:pt x="1691284" y="210275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206240" y="1096926"/>
              <a:ext cx="1691639" cy="54610"/>
            </a:xfrm>
            <a:custGeom>
              <a:avLst/>
              <a:gdLst/>
              <a:ahLst/>
              <a:cxnLst/>
              <a:rect l="l" t="t" r="r" b="b"/>
              <a:pathLst>
                <a:path w="1691639" h="54609">
                  <a:moveTo>
                    <a:pt x="1691284" y="0"/>
                  </a:moveTo>
                  <a:lnTo>
                    <a:pt x="0" y="0"/>
                  </a:lnTo>
                  <a:lnTo>
                    <a:pt x="0" y="54355"/>
                  </a:lnTo>
                  <a:lnTo>
                    <a:pt x="845642" y="54355"/>
                  </a:lnTo>
                  <a:lnTo>
                    <a:pt x="1691284" y="54355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43044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60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330344" y="1893932"/>
            <a:ext cx="1388745" cy="95376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700" spc="-25">
                <a:solidFill>
                  <a:srgbClr val="293A21"/>
                </a:solidFill>
                <a:latin typeface="Verdana"/>
                <a:cs typeface="Verdana"/>
              </a:rPr>
              <a:t>TSP</a:t>
            </a:r>
            <a:endParaRPr sz="17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Finds</a:t>
            </a:r>
            <a:r>
              <a:rPr dirty="0" sz="1100" spc="3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50">
                <a:solidFill>
                  <a:srgbClr val="6A795D"/>
                </a:solidFill>
                <a:latin typeface="Tahoma"/>
                <a:cs typeface="Tahoma"/>
              </a:rPr>
              <a:t>an</a:t>
            </a:r>
            <a:r>
              <a:rPr dirty="0" sz="1100" spc="3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efficient </a:t>
            </a: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sequence</a:t>
            </a:r>
            <a:r>
              <a:rPr dirty="0" sz="1100" spc="13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for</a:t>
            </a:r>
            <a:r>
              <a:rPr dirty="0" sz="1100" spc="13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visiting </a:t>
            </a: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all</a:t>
            </a:r>
            <a:r>
              <a:rPr dirty="0" sz="1100" spc="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A795D"/>
                </a:solidFill>
                <a:latin typeface="Tahoma"/>
                <a:cs typeface="Tahoma"/>
              </a:rPr>
              <a:t>stops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200" y="3428646"/>
            <a:ext cx="5440680" cy="1097280"/>
          </a:xfrm>
          <a:custGeom>
            <a:avLst/>
            <a:gdLst/>
            <a:ahLst/>
            <a:cxnLst/>
            <a:rect l="l" t="t" r="r" b="b"/>
            <a:pathLst>
              <a:path w="5440680" h="1097279">
                <a:moveTo>
                  <a:pt x="5440324" y="0"/>
                </a:moveTo>
                <a:lnTo>
                  <a:pt x="0" y="0"/>
                </a:lnTo>
                <a:lnTo>
                  <a:pt x="0" y="1096911"/>
                </a:lnTo>
                <a:lnTo>
                  <a:pt x="2720162" y="1096911"/>
                </a:lnTo>
                <a:lnTo>
                  <a:pt x="5440324" y="1096911"/>
                </a:lnTo>
                <a:lnTo>
                  <a:pt x="5440324" y="0"/>
                </a:lnTo>
                <a:close/>
              </a:path>
            </a:pathLst>
          </a:custGeom>
          <a:solidFill>
            <a:srgbClr val="6999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27024" y="3474296"/>
            <a:ext cx="4747260" cy="902969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250" spc="-90">
                <a:solidFill>
                  <a:srgbClr val="F0F5EB"/>
                </a:solidFill>
                <a:latin typeface="Verdana"/>
                <a:cs typeface="Verdana"/>
              </a:rPr>
              <a:t>U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F0F5EB"/>
                </a:solidFill>
                <a:latin typeface="Verdana"/>
                <a:cs typeface="Verdana"/>
              </a:rPr>
              <a:t>N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05">
                <a:solidFill>
                  <a:srgbClr val="F0F5EB"/>
                </a:solidFill>
                <a:latin typeface="Verdana"/>
                <a:cs typeface="Verdana"/>
              </a:rPr>
              <a:t>I</a:t>
            </a:r>
            <a:r>
              <a:rPr dirty="0" sz="1250" spc="-14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25">
                <a:solidFill>
                  <a:srgbClr val="F0F5EB"/>
                </a:solidFill>
                <a:latin typeface="Verdana"/>
                <a:cs typeface="Verdana"/>
              </a:rPr>
              <a:t>Q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90">
                <a:solidFill>
                  <a:srgbClr val="F0F5EB"/>
                </a:solidFill>
                <a:latin typeface="Verdana"/>
                <a:cs typeface="Verdana"/>
              </a:rPr>
              <a:t>U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0F5EB"/>
                </a:solidFill>
                <a:latin typeface="Verdana"/>
                <a:cs typeface="Verdana"/>
              </a:rPr>
              <a:t>E</a:t>
            </a:r>
            <a:r>
              <a:rPr dirty="0" sz="1250" spc="32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00">
                <a:solidFill>
                  <a:srgbClr val="F0F5EB"/>
                </a:solidFill>
                <a:latin typeface="Verdana"/>
                <a:cs typeface="Verdana"/>
              </a:rPr>
              <a:t>A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F0F5EB"/>
                </a:solidFill>
                <a:latin typeface="Verdana"/>
                <a:cs typeface="Verdana"/>
              </a:rPr>
              <a:t>P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F0F5EB"/>
                </a:solidFill>
                <a:latin typeface="Verdana"/>
                <a:cs typeface="Verdana"/>
              </a:rPr>
              <a:t>P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55">
                <a:solidFill>
                  <a:srgbClr val="F0F5EB"/>
                </a:solidFill>
                <a:latin typeface="Verdana"/>
                <a:cs typeface="Verdana"/>
              </a:rPr>
              <a:t>R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25">
                <a:solidFill>
                  <a:srgbClr val="F0F5EB"/>
                </a:solidFill>
                <a:latin typeface="Verdana"/>
                <a:cs typeface="Verdana"/>
              </a:rPr>
              <a:t>O</a:t>
            </a:r>
            <a:r>
              <a:rPr dirty="0" sz="1250" spc="-16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00">
                <a:solidFill>
                  <a:srgbClr val="F0F5EB"/>
                </a:solidFill>
                <a:latin typeface="Verdana"/>
                <a:cs typeface="Verdana"/>
              </a:rPr>
              <a:t>A</a:t>
            </a:r>
            <a:r>
              <a:rPr dirty="0" sz="1250" spc="-16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175">
                <a:solidFill>
                  <a:srgbClr val="F0F5EB"/>
                </a:solidFill>
                <a:latin typeface="Verdana"/>
                <a:cs typeface="Verdana"/>
              </a:rPr>
              <a:t>C</a:t>
            </a:r>
            <a:r>
              <a:rPr dirty="0" sz="12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F0F5EB"/>
                </a:solidFill>
                <a:latin typeface="Verdana"/>
                <a:cs typeface="Verdana"/>
              </a:rPr>
              <a:t>H</a:t>
            </a:r>
            <a:endParaRPr sz="1250">
              <a:latin typeface="Verdana"/>
              <a:cs typeface="Verdana"/>
            </a:endParaRPr>
          </a:p>
          <a:p>
            <a:pPr marL="12700" marR="5080">
              <a:lnSpc>
                <a:spcPts val="1920"/>
              </a:lnSpc>
              <a:spcBef>
                <a:spcPts val="1055"/>
              </a:spcBef>
            </a:pPr>
            <a:r>
              <a:rPr dirty="0" sz="1800" spc="-75">
                <a:solidFill>
                  <a:srgbClr val="F0F5EB"/>
                </a:solidFill>
                <a:latin typeface="Verdana"/>
                <a:cs typeface="Verdana"/>
              </a:rPr>
              <a:t>Priority</a:t>
            </a:r>
            <a:r>
              <a:rPr dirty="0" sz="1800" spc="-18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580">
                <a:solidFill>
                  <a:srgbClr val="F0F5EB"/>
                </a:solidFill>
                <a:latin typeface="Verdana"/>
                <a:cs typeface="Verdana"/>
              </a:rPr>
              <a:t>+</a:t>
            </a:r>
            <a:r>
              <a:rPr dirty="0" sz="1800" spc="-18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125">
                <a:solidFill>
                  <a:srgbClr val="F0F5EB"/>
                </a:solidFill>
                <a:latin typeface="Verdana"/>
                <a:cs typeface="Verdana"/>
              </a:rPr>
              <a:t>Shortest</a:t>
            </a:r>
            <a:r>
              <a:rPr dirty="0" sz="18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95">
                <a:solidFill>
                  <a:srgbClr val="F0F5EB"/>
                </a:solidFill>
                <a:latin typeface="Verdana"/>
                <a:cs typeface="Verdana"/>
              </a:rPr>
              <a:t>Path</a:t>
            </a:r>
            <a:r>
              <a:rPr dirty="0" sz="1800" spc="-18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580">
                <a:solidFill>
                  <a:srgbClr val="F0F5EB"/>
                </a:solidFill>
                <a:latin typeface="Verdana"/>
                <a:cs typeface="Verdana"/>
              </a:rPr>
              <a:t>+</a:t>
            </a:r>
            <a:r>
              <a:rPr dirty="0" sz="18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120">
                <a:solidFill>
                  <a:srgbClr val="F0F5EB"/>
                </a:solidFill>
                <a:latin typeface="Verdana"/>
                <a:cs typeface="Verdana"/>
              </a:rPr>
              <a:t>Route</a:t>
            </a:r>
            <a:r>
              <a:rPr dirty="0" sz="1800" spc="-18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100">
                <a:solidFill>
                  <a:srgbClr val="F0F5EB"/>
                </a:solidFill>
                <a:latin typeface="Verdana"/>
                <a:cs typeface="Verdana"/>
              </a:rPr>
              <a:t>Optimization</a:t>
            </a:r>
            <a:r>
              <a:rPr dirty="0" sz="18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630">
                <a:solidFill>
                  <a:srgbClr val="F0F5EB"/>
                </a:solidFill>
                <a:latin typeface="Verdana"/>
                <a:cs typeface="Verdana"/>
              </a:rPr>
              <a:t>+</a:t>
            </a:r>
            <a:r>
              <a:rPr dirty="0" sz="1800" spc="-110">
                <a:solidFill>
                  <a:srgbClr val="F0F5EB"/>
                </a:solidFill>
                <a:latin typeface="Verdana"/>
                <a:cs typeface="Verdana"/>
              </a:rPr>
              <a:t> Battery</a:t>
            </a:r>
            <a:r>
              <a:rPr dirty="0" sz="1800" spc="-16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0F5EB"/>
                </a:solidFill>
                <a:latin typeface="Verdana"/>
                <a:cs typeface="Verdana"/>
              </a:rPr>
              <a:t>Validation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04864" y="1114788"/>
            <a:ext cx="1934845" cy="3060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00" spc="-114">
                <a:solidFill>
                  <a:srgbClr val="4B792D"/>
                </a:solidFill>
                <a:latin typeface="Verdana"/>
                <a:cs typeface="Verdana"/>
              </a:rPr>
              <a:t>Explainable</a:t>
            </a:r>
            <a:r>
              <a:rPr dirty="0" sz="1800" spc="-165">
                <a:solidFill>
                  <a:srgbClr val="4B792D"/>
                </a:solidFill>
                <a:latin typeface="Verdana"/>
                <a:cs typeface="Verdana"/>
              </a:rPr>
              <a:t> </a:t>
            </a:r>
            <a:r>
              <a:rPr dirty="0" sz="1800" spc="-65">
                <a:solidFill>
                  <a:srgbClr val="4B792D"/>
                </a:solidFill>
                <a:latin typeface="Verdana"/>
                <a:cs typeface="Verdana"/>
              </a:rPr>
              <a:t>output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04864" y="1466547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293A2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04864" y="1893427"/>
            <a:ext cx="88900" cy="14744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400" spc="-50">
                <a:solidFill>
                  <a:srgbClr val="293A2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 spc="-50">
                <a:solidFill>
                  <a:srgbClr val="293A2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400" spc="-50">
                <a:solidFill>
                  <a:srgbClr val="293A2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 spc="-50">
                <a:solidFill>
                  <a:srgbClr val="293A2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400" spc="-50">
                <a:solidFill>
                  <a:srgbClr val="293A21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47942" y="1495706"/>
            <a:ext cx="2131060" cy="1901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5308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93A21"/>
                </a:solidFill>
                <a:latin typeface="Tahoma"/>
                <a:cs typeface="Tahoma"/>
              </a:rPr>
              <a:t>Why</a:t>
            </a:r>
            <a:r>
              <a:rPr dirty="0" sz="14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293A21"/>
                </a:solidFill>
                <a:latin typeface="Tahoma"/>
                <a:cs typeface="Tahoma"/>
              </a:rPr>
              <a:t>the</a:t>
            </a:r>
            <a:r>
              <a:rPr dirty="0" sz="14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293A21"/>
                </a:solidFill>
                <a:latin typeface="Tahoma"/>
                <a:cs typeface="Tahoma"/>
              </a:rPr>
              <a:t>route</a:t>
            </a:r>
            <a:r>
              <a:rPr dirty="0" sz="1400" spc="-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25">
                <a:solidFill>
                  <a:srgbClr val="293A21"/>
                </a:solidFill>
                <a:latin typeface="Tahoma"/>
                <a:cs typeface="Tahoma"/>
              </a:rPr>
              <a:t>was </a:t>
            </a:r>
            <a:r>
              <a:rPr dirty="0" sz="1400" spc="-10">
                <a:solidFill>
                  <a:srgbClr val="293A21"/>
                </a:solidFill>
                <a:latin typeface="Tahoma"/>
                <a:cs typeface="Tahoma"/>
              </a:rPr>
              <a:t>selected</a:t>
            </a:r>
            <a:endParaRPr sz="1400">
              <a:latin typeface="Tahoma"/>
              <a:cs typeface="Tahoma"/>
            </a:endParaRPr>
          </a:p>
          <a:p>
            <a:pPr marL="12700" marR="334010">
              <a:lnSpc>
                <a:spcPct val="135800"/>
              </a:lnSpc>
            </a:pPr>
            <a:r>
              <a:rPr dirty="0" sz="1400">
                <a:solidFill>
                  <a:srgbClr val="293A21"/>
                </a:solidFill>
                <a:latin typeface="Tahoma"/>
                <a:cs typeface="Tahoma"/>
              </a:rPr>
              <a:t>Total</a:t>
            </a:r>
            <a:r>
              <a:rPr dirty="0" sz="1400" spc="-1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93A21"/>
                </a:solidFill>
                <a:latin typeface="Tahoma"/>
                <a:cs typeface="Tahoma"/>
              </a:rPr>
              <a:t>distance</a:t>
            </a:r>
            <a:r>
              <a:rPr dirty="0" sz="1400" spc="50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293A21"/>
                </a:solidFill>
                <a:latin typeface="Tahoma"/>
                <a:cs typeface="Tahoma"/>
              </a:rPr>
              <a:t>Battery</a:t>
            </a:r>
            <a:r>
              <a:rPr dirty="0" sz="1400" spc="-6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293A21"/>
                </a:solidFill>
                <a:latin typeface="Tahoma"/>
                <a:cs typeface="Tahoma"/>
              </a:rPr>
              <a:t>consumption </a:t>
            </a:r>
            <a:r>
              <a:rPr dirty="0" sz="1400">
                <a:solidFill>
                  <a:srgbClr val="293A21"/>
                </a:solidFill>
                <a:latin typeface="Tahoma"/>
                <a:cs typeface="Tahoma"/>
              </a:rPr>
              <a:t>Delivery</a:t>
            </a:r>
            <a:r>
              <a:rPr dirty="0" sz="1400" spc="23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293A21"/>
                </a:solidFill>
                <a:latin typeface="Tahoma"/>
                <a:cs typeface="Tahoma"/>
              </a:rPr>
              <a:t>order </a:t>
            </a:r>
            <a:r>
              <a:rPr dirty="0" sz="1400" spc="50">
                <a:solidFill>
                  <a:srgbClr val="293A21"/>
                </a:solidFill>
                <a:latin typeface="Tahoma"/>
                <a:cs typeface="Tahoma"/>
              </a:rPr>
              <a:t>Constraints</a:t>
            </a:r>
            <a:r>
              <a:rPr dirty="0" sz="1400" spc="-4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93A21"/>
                </a:solidFill>
                <a:latin typeface="Tahoma"/>
                <a:cs typeface="Tahoma"/>
              </a:rPr>
              <a:t>satisfied?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solidFill>
                  <a:srgbClr val="293A21"/>
                </a:solidFill>
                <a:latin typeface="Tahoma"/>
                <a:cs typeface="Tahoma"/>
              </a:rPr>
              <a:t>Why</a:t>
            </a:r>
            <a:r>
              <a:rPr dirty="0" sz="1400" spc="-3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293A21"/>
                </a:solidFill>
                <a:latin typeface="Tahoma"/>
                <a:cs typeface="Tahoma"/>
              </a:rPr>
              <a:t>a</a:t>
            </a:r>
            <a:r>
              <a:rPr dirty="0" sz="1400" spc="-3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293A21"/>
                </a:solidFill>
                <a:latin typeface="Tahoma"/>
                <a:cs typeface="Tahoma"/>
              </a:rPr>
              <a:t>route</a:t>
            </a:r>
            <a:r>
              <a:rPr dirty="0" sz="1400" spc="-3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293A21"/>
                </a:solidFill>
                <a:latin typeface="Tahoma"/>
                <a:cs typeface="Tahoma"/>
              </a:rPr>
              <a:t>was</a:t>
            </a:r>
            <a:r>
              <a:rPr dirty="0" sz="1400" spc="-3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293A21"/>
                </a:solidFill>
                <a:latin typeface="Tahoma"/>
                <a:cs typeface="Tahoma"/>
              </a:rPr>
              <a:t>rejected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04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40"/>
              <a:t>How</a:t>
            </a:r>
            <a:r>
              <a:rPr dirty="0" spc="-484"/>
              <a:t> </a:t>
            </a:r>
            <a:r>
              <a:rPr dirty="0" spc="-200"/>
              <a:t>It</a:t>
            </a:r>
            <a:r>
              <a:rPr dirty="0" spc="-480"/>
              <a:t> </a:t>
            </a:r>
            <a:r>
              <a:rPr dirty="0" spc="-340"/>
              <a:t>Works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1188366"/>
            <a:ext cx="1417320" cy="1828800"/>
            <a:chOff x="457200" y="1188366"/>
            <a:chExt cx="1417320" cy="1828800"/>
          </a:xfrm>
        </p:grpSpPr>
        <p:sp>
          <p:nvSpPr>
            <p:cNvPr id="5" name="object 5"/>
            <p:cNvSpPr/>
            <p:nvPr/>
          </p:nvSpPr>
          <p:spPr>
            <a:xfrm>
              <a:off x="457200" y="1188366"/>
              <a:ext cx="1417320" cy="1828800"/>
            </a:xfrm>
            <a:custGeom>
              <a:avLst/>
              <a:gdLst/>
              <a:ahLst/>
              <a:cxnLst/>
              <a:rect l="l" t="t" r="r" b="b"/>
              <a:pathLst>
                <a:path w="1417320" h="1828800">
                  <a:moveTo>
                    <a:pt x="1416964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708482" y="1828431"/>
                  </a:lnTo>
                  <a:lnTo>
                    <a:pt x="1416964" y="1828431"/>
                  </a:lnTo>
                  <a:lnTo>
                    <a:pt x="1416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5680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11" y="9313"/>
                  </a:lnTo>
                  <a:lnTo>
                    <a:pt x="137159" y="36715"/>
                  </a:lnTo>
                  <a:lnTo>
                    <a:pt x="8032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7" y="441397"/>
                  </a:lnTo>
                  <a:lnTo>
                    <a:pt x="107242" y="491916"/>
                  </a:lnTo>
                  <a:lnTo>
                    <a:pt x="169424" y="527830"/>
                  </a:lnTo>
                  <a:lnTo>
                    <a:pt x="238411" y="546294"/>
                  </a:lnTo>
                  <a:lnTo>
                    <a:pt x="274320" y="548639"/>
                  </a:lnTo>
                  <a:lnTo>
                    <a:pt x="310228" y="546294"/>
                  </a:lnTo>
                  <a:lnTo>
                    <a:pt x="379215" y="527830"/>
                  </a:lnTo>
                  <a:lnTo>
                    <a:pt x="441397" y="491916"/>
                  </a:lnTo>
                  <a:lnTo>
                    <a:pt x="491922" y="441397"/>
                  </a:lnTo>
                  <a:lnTo>
                    <a:pt x="527835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5" y="169422"/>
                  </a:lnTo>
                  <a:lnTo>
                    <a:pt x="491922" y="107235"/>
                  </a:lnTo>
                  <a:lnTo>
                    <a:pt x="441397" y="56710"/>
                  </a:lnTo>
                  <a:lnTo>
                    <a:pt x="379215" y="20804"/>
                  </a:lnTo>
                  <a:lnTo>
                    <a:pt x="310228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195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01459" y="1921149"/>
            <a:ext cx="1135380" cy="75882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dirty="0" sz="1250" spc="-10">
                <a:solidFill>
                  <a:srgbClr val="293A21"/>
                </a:solidFill>
                <a:latin typeface="Verdana"/>
                <a:cs typeface="Verdana"/>
              </a:rPr>
              <a:t>INPUT</a:t>
            </a:r>
            <a:endParaRPr sz="125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Drone,</a:t>
            </a:r>
            <a:r>
              <a:rPr dirty="0" sz="1100" spc="13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locations, </a:t>
            </a: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priorities,</a:t>
            </a:r>
            <a:r>
              <a:rPr dirty="0" sz="1100" spc="22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graph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20239" y="1188366"/>
            <a:ext cx="1637030" cy="1828800"/>
            <a:chOff x="1920239" y="1188366"/>
            <a:chExt cx="1637030" cy="1828800"/>
          </a:xfrm>
        </p:grpSpPr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9" y="2011313"/>
              <a:ext cx="182524" cy="1825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835" y="1188366"/>
              <a:ext cx="1417320" cy="1828800"/>
            </a:xfrm>
            <a:custGeom>
              <a:avLst/>
              <a:gdLst/>
              <a:ahLst/>
              <a:cxnLst/>
              <a:rect l="l" t="t" r="r" b="b"/>
              <a:pathLst>
                <a:path w="1417320" h="1828800">
                  <a:moveTo>
                    <a:pt x="1416964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708482" y="1828431"/>
                  </a:lnTo>
                  <a:lnTo>
                    <a:pt x="1416964" y="1828431"/>
                  </a:lnTo>
                  <a:lnTo>
                    <a:pt x="1416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78315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0"/>
                  </a:moveTo>
                  <a:lnTo>
                    <a:pt x="203315" y="9313"/>
                  </a:lnTo>
                  <a:lnTo>
                    <a:pt x="137160" y="36715"/>
                  </a:lnTo>
                  <a:lnTo>
                    <a:pt x="80329" y="80317"/>
                  </a:lnTo>
                  <a:lnTo>
                    <a:pt x="36728" y="137160"/>
                  </a:lnTo>
                  <a:lnTo>
                    <a:pt x="9315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9" y="379209"/>
                  </a:lnTo>
                  <a:lnTo>
                    <a:pt x="56723" y="441397"/>
                  </a:lnTo>
                  <a:lnTo>
                    <a:pt x="107242" y="491916"/>
                  </a:lnTo>
                  <a:lnTo>
                    <a:pt x="169430" y="527830"/>
                  </a:lnTo>
                  <a:lnTo>
                    <a:pt x="238413" y="546294"/>
                  </a:lnTo>
                  <a:lnTo>
                    <a:pt x="274319" y="548639"/>
                  </a:lnTo>
                  <a:lnTo>
                    <a:pt x="310233" y="546294"/>
                  </a:lnTo>
                  <a:lnTo>
                    <a:pt x="379217" y="527830"/>
                  </a:lnTo>
                  <a:lnTo>
                    <a:pt x="441404" y="491916"/>
                  </a:lnTo>
                  <a:lnTo>
                    <a:pt x="491929" y="441397"/>
                  </a:lnTo>
                  <a:lnTo>
                    <a:pt x="527835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5" y="169422"/>
                  </a:lnTo>
                  <a:lnTo>
                    <a:pt x="491929" y="107235"/>
                  </a:lnTo>
                  <a:lnTo>
                    <a:pt x="441404" y="56710"/>
                  </a:lnTo>
                  <a:lnTo>
                    <a:pt x="379217" y="20804"/>
                  </a:lnTo>
                  <a:lnTo>
                    <a:pt x="310233" y="2345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5844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247734" y="1921149"/>
            <a:ext cx="1200150" cy="75882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dirty="0" sz="1250" spc="-120">
                <a:solidFill>
                  <a:srgbClr val="293A21"/>
                </a:solidFill>
                <a:latin typeface="Verdana"/>
                <a:cs typeface="Verdana"/>
              </a:rPr>
              <a:t>PRIORITY</a:t>
            </a:r>
            <a:r>
              <a:rPr dirty="0" sz="1250" spc="-10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250" spc="-100">
                <a:solidFill>
                  <a:srgbClr val="293A21"/>
                </a:solidFill>
                <a:latin typeface="Verdana"/>
                <a:cs typeface="Verdana"/>
              </a:rPr>
              <a:t>QUEUE</a:t>
            </a:r>
            <a:endParaRPr sz="1250">
              <a:latin typeface="Verdana"/>
              <a:cs typeface="Verdana"/>
            </a:endParaRPr>
          </a:p>
          <a:p>
            <a:pPr algn="ctr" marL="133350" marR="116839">
              <a:lnSpc>
                <a:spcPct val="100000"/>
              </a:lnSpc>
              <a:spcBef>
                <a:spcPts val="750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Select</a:t>
            </a:r>
            <a:r>
              <a:rPr dirty="0" sz="1100" spc="9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delivery order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02875" y="1188366"/>
            <a:ext cx="1636395" cy="1828800"/>
            <a:chOff x="3602875" y="1188366"/>
            <a:chExt cx="1636395" cy="1828800"/>
          </a:xfrm>
        </p:grpSpPr>
        <p:pic>
          <p:nvPicPr>
            <p:cNvPr id="16" name="object 1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2875" y="2011313"/>
              <a:ext cx="182524" cy="1825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22115" y="1188366"/>
              <a:ext cx="1417320" cy="1828800"/>
            </a:xfrm>
            <a:custGeom>
              <a:avLst/>
              <a:gdLst/>
              <a:ahLst/>
              <a:cxnLst/>
              <a:rect l="l" t="t" r="r" b="b"/>
              <a:pathLst>
                <a:path w="1417320" h="1828800">
                  <a:moveTo>
                    <a:pt x="1416964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708482" y="1828431"/>
                  </a:lnTo>
                  <a:lnTo>
                    <a:pt x="1416964" y="1828431"/>
                  </a:lnTo>
                  <a:lnTo>
                    <a:pt x="1416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260596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19" y="0"/>
                  </a:moveTo>
                  <a:lnTo>
                    <a:pt x="203315" y="9313"/>
                  </a:lnTo>
                  <a:lnTo>
                    <a:pt x="137159" y="36715"/>
                  </a:lnTo>
                  <a:lnTo>
                    <a:pt x="80329" y="80317"/>
                  </a:lnTo>
                  <a:lnTo>
                    <a:pt x="36728" y="137160"/>
                  </a:lnTo>
                  <a:lnTo>
                    <a:pt x="9315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9" y="379209"/>
                  </a:lnTo>
                  <a:lnTo>
                    <a:pt x="56723" y="441397"/>
                  </a:lnTo>
                  <a:lnTo>
                    <a:pt x="107242" y="491916"/>
                  </a:lnTo>
                  <a:lnTo>
                    <a:pt x="169430" y="527830"/>
                  </a:lnTo>
                  <a:lnTo>
                    <a:pt x="238413" y="546294"/>
                  </a:lnTo>
                  <a:lnTo>
                    <a:pt x="274319" y="548639"/>
                  </a:lnTo>
                  <a:lnTo>
                    <a:pt x="310233" y="546294"/>
                  </a:lnTo>
                  <a:lnTo>
                    <a:pt x="379217" y="527830"/>
                  </a:lnTo>
                  <a:lnTo>
                    <a:pt x="441404" y="491916"/>
                  </a:lnTo>
                  <a:lnTo>
                    <a:pt x="491929" y="441397"/>
                  </a:lnTo>
                  <a:lnTo>
                    <a:pt x="527835" y="379209"/>
                  </a:lnTo>
                  <a:lnTo>
                    <a:pt x="546294" y="310226"/>
                  </a:lnTo>
                  <a:lnTo>
                    <a:pt x="548639" y="274320"/>
                  </a:lnTo>
                  <a:lnTo>
                    <a:pt x="546294" y="238406"/>
                  </a:lnTo>
                  <a:lnTo>
                    <a:pt x="527835" y="169422"/>
                  </a:lnTo>
                  <a:lnTo>
                    <a:pt x="491929" y="107235"/>
                  </a:lnTo>
                  <a:lnTo>
                    <a:pt x="441404" y="56710"/>
                  </a:lnTo>
                  <a:lnTo>
                    <a:pt x="379217" y="20804"/>
                  </a:lnTo>
                  <a:lnTo>
                    <a:pt x="310233" y="2345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8124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042333" y="1921149"/>
            <a:ext cx="982980" cy="59118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dirty="0" sz="1250" spc="-40">
                <a:solidFill>
                  <a:srgbClr val="293A21"/>
                </a:solidFill>
                <a:latin typeface="Verdana"/>
                <a:cs typeface="Verdana"/>
              </a:rPr>
              <a:t>DIJKSTRA</a:t>
            </a:r>
            <a:endParaRPr sz="1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Shortest</a:t>
            </a:r>
            <a:r>
              <a:rPr dirty="0" sz="1100" spc="1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paths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85155" y="1188366"/>
            <a:ext cx="1637030" cy="1828800"/>
            <a:chOff x="5285155" y="1188366"/>
            <a:chExt cx="1637030" cy="1828800"/>
          </a:xfrm>
        </p:grpSpPr>
        <p:pic>
          <p:nvPicPr>
            <p:cNvPr id="22" name="object 22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5155" y="2011313"/>
              <a:ext cx="182524" cy="1825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504764" y="1188366"/>
              <a:ext cx="1417320" cy="1828800"/>
            </a:xfrm>
            <a:custGeom>
              <a:avLst/>
              <a:gdLst/>
              <a:ahLst/>
              <a:cxnLst/>
              <a:rect l="l" t="t" r="r" b="b"/>
              <a:pathLst>
                <a:path w="1417320" h="1828800">
                  <a:moveTo>
                    <a:pt x="141695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708469" y="1828431"/>
                  </a:lnTo>
                  <a:lnTo>
                    <a:pt x="1416951" y="1828431"/>
                  </a:lnTo>
                  <a:lnTo>
                    <a:pt x="1416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943244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0759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745136" y="1921149"/>
            <a:ext cx="943610" cy="75882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dirty="0" sz="1250" spc="-25">
                <a:solidFill>
                  <a:srgbClr val="293A21"/>
                </a:solidFill>
                <a:latin typeface="Verdana"/>
                <a:cs typeface="Verdana"/>
              </a:rPr>
              <a:t>TSP</a:t>
            </a:r>
            <a:endParaRPr sz="125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750"/>
              </a:spcBef>
            </a:pPr>
            <a:r>
              <a:rPr dirty="0" sz="1100" spc="50">
                <a:solidFill>
                  <a:srgbClr val="6A795D"/>
                </a:solidFill>
                <a:latin typeface="Tahoma"/>
                <a:cs typeface="Tahoma"/>
              </a:rPr>
              <a:t>Optimize</a:t>
            </a:r>
            <a:r>
              <a:rPr dirty="0" sz="1100" spc="-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A795D"/>
                </a:solidFill>
                <a:latin typeface="Tahoma"/>
                <a:cs typeface="Tahoma"/>
              </a:rPr>
              <a:t>stop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sequence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967804" y="1188366"/>
            <a:ext cx="1636395" cy="1828800"/>
            <a:chOff x="6967804" y="1188366"/>
            <a:chExt cx="1636395" cy="1828800"/>
          </a:xfrm>
        </p:grpSpPr>
        <p:pic>
          <p:nvPicPr>
            <p:cNvPr id="28" name="object 2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7804" y="2011313"/>
              <a:ext cx="182524" cy="1825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187044" y="1188366"/>
              <a:ext cx="1417320" cy="1828800"/>
            </a:xfrm>
            <a:custGeom>
              <a:avLst/>
              <a:gdLst/>
              <a:ahLst/>
              <a:cxnLst/>
              <a:rect l="l" t="t" r="r" b="b"/>
              <a:pathLst>
                <a:path w="1417320" h="1828800">
                  <a:moveTo>
                    <a:pt x="1416951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708469" y="1828431"/>
                  </a:lnTo>
                  <a:lnTo>
                    <a:pt x="1416951" y="1828431"/>
                  </a:lnTo>
                  <a:lnTo>
                    <a:pt x="1416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625880" y="1325526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11" y="9313"/>
                  </a:lnTo>
                  <a:lnTo>
                    <a:pt x="137160" y="36715"/>
                  </a:lnTo>
                  <a:lnTo>
                    <a:pt x="8032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7" y="441397"/>
                  </a:lnTo>
                  <a:lnTo>
                    <a:pt x="107242" y="491916"/>
                  </a:lnTo>
                  <a:lnTo>
                    <a:pt x="169424" y="527830"/>
                  </a:lnTo>
                  <a:lnTo>
                    <a:pt x="238411" y="546294"/>
                  </a:lnTo>
                  <a:lnTo>
                    <a:pt x="274320" y="548639"/>
                  </a:lnTo>
                  <a:lnTo>
                    <a:pt x="310228" y="546294"/>
                  </a:lnTo>
                  <a:lnTo>
                    <a:pt x="379215" y="527830"/>
                  </a:lnTo>
                  <a:lnTo>
                    <a:pt x="441397" y="491916"/>
                  </a:lnTo>
                  <a:lnTo>
                    <a:pt x="491922" y="441397"/>
                  </a:lnTo>
                  <a:lnTo>
                    <a:pt x="527835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5" y="169422"/>
                  </a:lnTo>
                  <a:lnTo>
                    <a:pt x="491922" y="107235"/>
                  </a:lnTo>
                  <a:lnTo>
                    <a:pt x="441397" y="56710"/>
                  </a:lnTo>
                  <a:lnTo>
                    <a:pt x="379215" y="20804"/>
                  </a:lnTo>
                  <a:lnTo>
                    <a:pt x="310228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4B79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63395" y="1462673"/>
              <a:ext cx="273964" cy="27396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187044" y="1188366"/>
            <a:ext cx="1417320" cy="1828800"/>
          </a:xfrm>
          <a:prstGeom prst="rect">
            <a:avLst/>
          </a:prstGeom>
          <a:ln w="19079">
            <a:solidFill>
              <a:srgbClr val="4B792D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50" spc="-145">
                <a:solidFill>
                  <a:srgbClr val="293A21"/>
                </a:solidFill>
                <a:latin typeface="Verdana"/>
                <a:cs typeface="Verdana"/>
              </a:rPr>
              <a:t>BATTERY</a:t>
            </a:r>
            <a:r>
              <a:rPr dirty="0" sz="1250" spc="-114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293A21"/>
                </a:solidFill>
                <a:latin typeface="Verdana"/>
                <a:cs typeface="Verdana"/>
              </a:rPr>
              <a:t>CHECK</a:t>
            </a:r>
            <a:endParaRPr sz="1250">
              <a:latin typeface="Verdana"/>
              <a:cs typeface="Verdana"/>
            </a:endParaRPr>
          </a:p>
          <a:p>
            <a:pPr algn="ctr" marL="347345" marR="332105" indent="635">
              <a:lnSpc>
                <a:spcPct val="100000"/>
              </a:lnSpc>
              <a:spcBef>
                <a:spcPts val="750"/>
              </a:spcBef>
            </a:pP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Validate constraints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144" y="3310984"/>
            <a:ext cx="78676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25">
                <a:solidFill>
                  <a:srgbClr val="3D7B4E"/>
                </a:solidFill>
                <a:latin typeface="Verdana"/>
                <a:cs typeface="Verdana"/>
              </a:rPr>
              <a:t>O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90">
                <a:solidFill>
                  <a:srgbClr val="3D7B4E"/>
                </a:solidFill>
                <a:latin typeface="Verdana"/>
                <a:cs typeface="Verdana"/>
              </a:rPr>
              <a:t>U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145">
                <a:solidFill>
                  <a:srgbClr val="3D7B4E"/>
                </a:solidFill>
                <a:latin typeface="Verdana"/>
                <a:cs typeface="Verdana"/>
              </a:rPr>
              <a:t>T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3D7B4E"/>
                </a:solidFill>
                <a:latin typeface="Verdana"/>
                <a:cs typeface="Verdana"/>
              </a:rPr>
              <a:t>P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90">
                <a:solidFill>
                  <a:srgbClr val="3D7B4E"/>
                </a:solidFill>
                <a:latin typeface="Verdana"/>
                <a:cs typeface="Verdana"/>
              </a:rPr>
              <a:t>U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65">
                <a:solidFill>
                  <a:srgbClr val="3D7B4E"/>
                </a:solidFill>
                <a:latin typeface="Verdana"/>
                <a:cs typeface="Verdana"/>
              </a:rPr>
              <a:t>T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6844" y="3611881"/>
            <a:ext cx="2651760" cy="438784"/>
            <a:chOff x="456844" y="3611881"/>
            <a:chExt cx="2651760" cy="438784"/>
          </a:xfrm>
        </p:grpSpPr>
        <p:sp>
          <p:nvSpPr>
            <p:cNvPr id="35" name="object 35"/>
            <p:cNvSpPr/>
            <p:nvPr/>
          </p:nvSpPr>
          <p:spPr>
            <a:xfrm>
              <a:off x="456844" y="3611881"/>
              <a:ext cx="2651760" cy="438784"/>
            </a:xfrm>
            <a:custGeom>
              <a:avLst/>
              <a:gdLst/>
              <a:ahLst/>
              <a:cxnLst/>
              <a:rect l="l" t="t" r="r" b="b"/>
              <a:pathLst>
                <a:path w="2651760" h="438785">
                  <a:moveTo>
                    <a:pt x="265139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25880" y="438480"/>
                  </a:lnTo>
                  <a:lnTo>
                    <a:pt x="2651391" y="438480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56844" y="3611881"/>
              <a:ext cx="54610" cy="438784"/>
            </a:xfrm>
            <a:custGeom>
              <a:avLst/>
              <a:gdLst/>
              <a:ahLst/>
              <a:cxnLst/>
              <a:rect l="l" t="t" r="r" b="b"/>
              <a:pathLst>
                <a:path w="54609" h="438785">
                  <a:moveTo>
                    <a:pt x="54356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7355" y="438480"/>
                  </a:lnTo>
                  <a:lnTo>
                    <a:pt x="54356" y="438480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27024" y="3719425"/>
            <a:ext cx="12871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5">
                <a:solidFill>
                  <a:srgbClr val="293A21"/>
                </a:solidFill>
                <a:latin typeface="Tahoma"/>
                <a:cs typeface="Tahoma"/>
              </a:rPr>
              <a:t>Optimized</a:t>
            </a:r>
            <a:r>
              <a:rPr dirty="0" sz="1300" spc="-7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30">
                <a:solidFill>
                  <a:srgbClr val="293A21"/>
                </a:solidFill>
                <a:latin typeface="Tahoma"/>
                <a:cs typeface="Tahoma"/>
              </a:rPr>
              <a:t>route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245764" y="3611881"/>
            <a:ext cx="2651760" cy="438784"/>
            <a:chOff x="3245764" y="3611881"/>
            <a:chExt cx="2651760" cy="438784"/>
          </a:xfrm>
        </p:grpSpPr>
        <p:sp>
          <p:nvSpPr>
            <p:cNvPr id="39" name="object 39"/>
            <p:cNvSpPr/>
            <p:nvPr/>
          </p:nvSpPr>
          <p:spPr>
            <a:xfrm>
              <a:off x="3245764" y="3611881"/>
              <a:ext cx="2651760" cy="438784"/>
            </a:xfrm>
            <a:custGeom>
              <a:avLst/>
              <a:gdLst/>
              <a:ahLst/>
              <a:cxnLst/>
              <a:rect l="l" t="t" r="r" b="b"/>
              <a:pathLst>
                <a:path w="2651760" h="438785">
                  <a:moveTo>
                    <a:pt x="265139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25879" y="438480"/>
                  </a:lnTo>
                  <a:lnTo>
                    <a:pt x="2651391" y="438480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45764" y="3611881"/>
              <a:ext cx="54610" cy="438784"/>
            </a:xfrm>
            <a:custGeom>
              <a:avLst/>
              <a:gdLst/>
              <a:ahLst/>
              <a:cxnLst/>
              <a:rect l="l" t="t" r="r" b="b"/>
              <a:pathLst>
                <a:path w="54610" h="438785">
                  <a:moveTo>
                    <a:pt x="54355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7355" y="438480"/>
                  </a:lnTo>
                  <a:lnTo>
                    <a:pt x="54355" y="43848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3415944" y="3719425"/>
            <a:ext cx="143700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Delivery</a:t>
            </a:r>
            <a:r>
              <a:rPr dirty="0" sz="1300" spc="18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293A21"/>
                </a:solidFill>
                <a:latin typeface="Tahoma"/>
                <a:cs typeface="Tahoma"/>
              </a:rPr>
              <a:t>sequence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34684" y="3611881"/>
            <a:ext cx="2651760" cy="438784"/>
            <a:chOff x="6034684" y="3611881"/>
            <a:chExt cx="2651760" cy="438784"/>
          </a:xfrm>
        </p:grpSpPr>
        <p:sp>
          <p:nvSpPr>
            <p:cNvPr id="43" name="object 43"/>
            <p:cNvSpPr/>
            <p:nvPr/>
          </p:nvSpPr>
          <p:spPr>
            <a:xfrm>
              <a:off x="6034684" y="3611881"/>
              <a:ext cx="2651760" cy="438784"/>
            </a:xfrm>
            <a:custGeom>
              <a:avLst/>
              <a:gdLst/>
              <a:ahLst/>
              <a:cxnLst/>
              <a:rect l="l" t="t" r="r" b="b"/>
              <a:pathLst>
                <a:path w="2651759" h="438785">
                  <a:moveTo>
                    <a:pt x="265139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25879" y="438480"/>
                  </a:lnTo>
                  <a:lnTo>
                    <a:pt x="2651391" y="438480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034684" y="3611881"/>
              <a:ext cx="54610" cy="438784"/>
            </a:xfrm>
            <a:custGeom>
              <a:avLst/>
              <a:gdLst/>
              <a:ahLst/>
              <a:cxnLst/>
              <a:rect l="l" t="t" r="r" b="b"/>
              <a:pathLst>
                <a:path w="54610" h="438785">
                  <a:moveTo>
                    <a:pt x="54355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7355" y="438480"/>
                  </a:lnTo>
                  <a:lnTo>
                    <a:pt x="54355" y="43848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204864" y="3719425"/>
            <a:ext cx="10909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Total</a:t>
            </a:r>
            <a:r>
              <a:rPr dirty="0" sz="1300" spc="-4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93A21"/>
                </a:solidFill>
                <a:latin typeface="Tahoma"/>
                <a:cs typeface="Tahoma"/>
              </a:rPr>
              <a:t>distance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6844" y="4160522"/>
            <a:ext cx="2651760" cy="438784"/>
            <a:chOff x="456844" y="4160522"/>
            <a:chExt cx="2651760" cy="438784"/>
          </a:xfrm>
        </p:grpSpPr>
        <p:sp>
          <p:nvSpPr>
            <p:cNvPr id="47" name="object 47"/>
            <p:cNvSpPr/>
            <p:nvPr/>
          </p:nvSpPr>
          <p:spPr>
            <a:xfrm>
              <a:off x="456844" y="4160522"/>
              <a:ext cx="2651760" cy="438784"/>
            </a:xfrm>
            <a:custGeom>
              <a:avLst/>
              <a:gdLst/>
              <a:ahLst/>
              <a:cxnLst/>
              <a:rect l="l" t="t" r="r" b="b"/>
              <a:pathLst>
                <a:path w="2651760" h="438785">
                  <a:moveTo>
                    <a:pt x="265139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25880" y="438480"/>
                  </a:lnTo>
                  <a:lnTo>
                    <a:pt x="2651391" y="438480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56844" y="4160522"/>
              <a:ext cx="54610" cy="438784"/>
            </a:xfrm>
            <a:custGeom>
              <a:avLst/>
              <a:gdLst/>
              <a:ahLst/>
              <a:cxnLst/>
              <a:rect l="l" t="t" r="r" b="b"/>
              <a:pathLst>
                <a:path w="54609" h="438785">
                  <a:moveTo>
                    <a:pt x="54356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7355" y="438480"/>
                  </a:lnTo>
                  <a:lnTo>
                    <a:pt x="54356" y="438480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627024" y="4268065"/>
            <a:ext cx="14414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Battery</a:t>
            </a:r>
            <a:r>
              <a:rPr dirty="0" sz="1300" spc="20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293A21"/>
                </a:solidFill>
                <a:latin typeface="Tahoma"/>
                <a:cs typeface="Tahoma"/>
              </a:rPr>
              <a:t>consumed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245764" y="4160522"/>
            <a:ext cx="2651760" cy="438784"/>
            <a:chOff x="3245764" y="4160522"/>
            <a:chExt cx="2651760" cy="438784"/>
          </a:xfrm>
        </p:grpSpPr>
        <p:sp>
          <p:nvSpPr>
            <p:cNvPr id="51" name="object 51"/>
            <p:cNvSpPr/>
            <p:nvPr/>
          </p:nvSpPr>
          <p:spPr>
            <a:xfrm>
              <a:off x="3245764" y="4160522"/>
              <a:ext cx="2651760" cy="438784"/>
            </a:xfrm>
            <a:custGeom>
              <a:avLst/>
              <a:gdLst/>
              <a:ahLst/>
              <a:cxnLst/>
              <a:rect l="l" t="t" r="r" b="b"/>
              <a:pathLst>
                <a:path w="2651760" h="438785">
                  <a:moveTo>
                    <a:pt x="265139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25879" y="438480"/>
                  </a:lnTo>
                  <a:lnTo>
                    <a:pt x="2651391" y="438480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245764" y="4160522"/>
              <a:ext cx="54610" cy="438784"/>
            </a:xfrm>
            <a:custGeom>
              <a:avLst/>
              <a:gdLst/>
              <a:ahLst/>
              <a:cxnLst/>
              <a:rect l="l" t="t" r="r" b="b"/>
              <a:pathLst>
                <a:path w="54610" h="438785">
                  <a:moveTo>
                    <a:pt x="54355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7355" y="438480"/>
                  </a:lnTo>
                  <a:lnTo>
                    <a:pt x="54355" y="43848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415944" y="4268065"/>
            <a:ext cx="14573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45">
                <a:solidFill>
                  <a:srgbClr val="293A21"/>
                </a:solidFill>
                <a:latin typeface="Tahoma"/>
                <a:cs typeface="Tahoma"/>
              </a:rPr>
              <a:t>Remaining</a:t>
            </a:r>
            <a:r>
              <a:rPr dirty="0" sz="1300" spc="-3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93A21"/>
                </a:solidFill>
                <a:latin typeface="Tahoma"/>
                <a:cs typeface="Tahoma"/>
              </a:rPr>
              <a:t>battery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034684" y="4160522"/>
            <a:ext cx="2651760" cy="438784"/>
            <a:chOff x="6034684" y="4160522"/>
            <a:chExt cx="2651760" cy="438784"/>
          </a:xfrm>
        </p:grpSpPr>
        <p:sp>
          <p:nvSpPr>
            <p:cNvPr id="55" name="object 55"/>
            <p:cNvSpPr/>
            <p:nvPr/>
          </p:nvSpPr>
          <p:spPr>
            <a:xfrm>
              <a:off x="6034684" y="4160522"/>
              <a:ext cx="2651760" cy="438784"/>
            </a:xfrm>
            <a:custGeom>
              <a:avLst/>
              <a:gdLst/>
              <a:ahLst/>
              <a:cxnLst/>
              <a:rect l="l" t="t" r="r" b="b"/>
              <a:pathLst>
                <a:path w="2651759" h="438785">
                  <a:moveTo>
                    <a:pt x="265139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325879" y="438480"/>
                  </a:lnTo>
                  <a:lnTo>
                    <a:pt x="2651391" y="438480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034684" y="4160522"/>
              <a:ext cx="54610" cy="438784"/>
            </a:xfrm>
            <a:custGeom>
              <a:avLst/>
              <a:gdLst/>
              <a:ahLst/>
              <a:cxnLst/>
              <a:rect l="l" t="t" r="r" b="b"/>
              <a:pathLst>
                <a:path w="54610" h="438785">
                  <a:moveTo>
                    <a:pt x="54355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7355" y="438480"/>
                  </a:lnTo>
                  <a:lnTo>
                    <a:pt x="54355" y="43848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6204864" y="4268065"/>
            <a:ext cx="9963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93A21"/>
                </a:solidFill>
                <a:latin typeface="Tahoma"/>
                <a:cs typeface="Tahoma"/>
              </a:rPr>
              <a:t>Route</a:t>
            </a:r>
            <a:r>
              <a:rPr dirty="0" sz="1300" spc="12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93A21"/>
                </a:solidFill>
                <a:latin typeface="Tahoma"/>
                <a:cs typeface="Tahoma"/>
              </a:rPr>
              <a:t>status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58" name="object 58" descr="process.jp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18119" y="4553282"/>
            <a:ext cx="801001" cy="529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10"/>
              <a:t>Technology</a:t>
            </a:r>
            <a:r>
              <a:rPr dirty="0" spc="-495"/>
              <a:t> </a:t>
            </a:r>
            <a:r>
              <a:rPr dirty="0" spc="-315"/>
              <a:t>&amp;</a:t>
            </a:r>
            <a:r>
              <a:rPr dirty="0" spc="-490"/>
              <a:t> </a:t>
            </a:r>
            <a:r>
              <a:rPr dirty="0" spc="-210"/>
              <a:t>Algorithms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1801" y="1137603"/>
          <a:ext cx="4018915" cy="251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/>
                <a:gridCol w="2560320"/>
              </a:tblGrid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30">
                          <a:solidFill>
                            <a:srgbClr val="F0F5EB"/>
                          </a:solidFill>
                          <a:latin typeface="Verdana"/>
                          <a:cs typeface="Verdana"/>
                        </a:rPr>
                        <a:t>Technology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69993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10">
                          <a:solidFill>
                            <a:srgbClr val="F0F5EB"/>
                          </a:solidFill>
                          <a:latin typeface="Verdana"/>
                          <a:cs typeface="Verdana"/>
                        </a:rPr>
                        <a:t>Purpose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69993E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10">
                          <a:solidFill>
                            <a:srgbClr val="293A21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5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Frontend</a:t>
                      </a:r>
                      <a:r>
                        <a:rPr dirty="0" sz="1400" spc="-7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400" spc="-7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UI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10">
                          <a:solidFill>
                            <a:srgbClr val="293A21"/>
                          </a:solidFill>
                          <a:latin typeface="Verdana"/>
                          <a:cs typeface="Verdana"/>
                        </a:rPr>
                        <a:t>Python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6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Algorithm</a:t>
                      </a:r>
                      <a:r>
                        <a:rPr dirty="0" sz="1400" spc="-6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5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implementation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10">
                          <a:solidFill>
                            <a:srgbClr val="293A21"/>
                          </a:solidFill>
                          <a:latin typeface="Verdana"/>
                          <a:cs typeface="Verdana"/>
                        </a:rPr>
                        <a:t>Flask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5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dirty="0" sz="1400" spc="-7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400" spc="-7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-25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API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600" spc="-10">
                          <a:solidFill>
                            <a:srgbClr val="293A21"/>
                          </a:solidFill>
                          <a:latin typeface="Verdana"/>
                          <a:cs typeface="Verdana"/>
                        </a:rPr>
                        <a:t>Leaflet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dirty="0" sz="1400" spc="28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00" spc="60">
                          <a:solidFill>
                            <a:srgbClr val="6A795D"/>
                          </a:solidFill>
                          <a:latin typeface="Tahoma"/>
                          <a:cs typeface="Tahoma"/>
                        </a:rPr>
                        <a:t>map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F0F5EB"/>
                      </a:solidFill>
                      <a:prstDash val="solid"/>
                    </a:lnL>
                    <a:lnR w="12700">
                      <a:solidFill>
                        <a:srgbClr val="F0F5EB"/>
                      </a:solidFill>
                      <a:prstDash val="solid"/>
                    </a:lnR>
                    <a:lnT w="12700">
                      <a:solidFill>
                        <a:srgbClr val="F0F5EB"/>
                      </a:solidFill>
                      <a:prstDash val="solid"/>
                    </a:lnT>
                    <a:lnB w="12700">
                      <a:solidFill>
                        <a:srgbClr val="F0F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754524" y="1143002"/>
            <a:ext cx="3931920" cy="749935"/>
          </a:xfrm>
          <a:custGeom>
            <a:avLst/>
            <a:gdLst/>
            <a:ahLst/>
            <a:cxnLst/>
            <a:rect l="l" t="t" r="r" b="b"/>
            <a:pathLst>
              <a:path w="3931920" h="749935">
                <a:moveTo>
                  <a:pt x="3931551" y="0"/>
                </a:moveTo>
                <a:lnTo>
                  <a:pt x="0" y="0"/>
                </a:lnTo>
                <a:lnTo>
                  <a:pt x="0" y="749515"/>
                </a:lnTo>
                <a:lnTo>
                  <a:pt x="1965960" y="749515"/>
                </a:lnTo>
                <a:lnTo>
                  <a:pt x="3931551" y="749515"/>
                </a:lnTo>
                <a:lnTo>
                  <a:pt x="3931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24704" y="1229829"/>
            <a:ext cx="1568450" cy="5397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75">
                <a:solidFill>
                  <a:srgbClr val="293A21"/>
                </a:solidFill>
                <a:latin typeface="Verdana"/>
                <a:cs typeface="Verdana"/>
              </a:rPr>
              <a:t>Priority</a:t>
            </a:r>
            <a:r>
              <a:rPr dirty="0" sz="1600" spc="-16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293A21"/>
                </a:solidFill>
                <a:latin typeface="Verdana"/>
                <a:cs typeface="Verdana"/>
              </a:rPr>
              <a:t>Queue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Priority-based</a:t>
            </a:r>
            <a:r>
              <a:rPr dirty="0" sz="1100" spc="4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selection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2776" y="1362205"/>
            <a:ext cx="77406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45">
                <a:solidFill>
                  <a:srgbClr val="69993E"/>
                </a:solidFill>
                <a:latin typeface="Verdana"/>
                <a:cs typeface="Verdana"/>
              </a:rPr>
              <a:t>O(log</a:t>
            </a:r>
            <a:r>
              <a:rPr dirty="0" sz="1700" spc="-16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700" spc="-155">
                <a:solidFill>
                  <a:srgbClr val="69993E"/>
                </a:solidFill>
                <a:latin typeface="Verdana"/>
                <a:cs typeface="Verdana"/>
              </a:rPr>
              <a:t>n)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4524" y="2011682"/>
            <a:ext cx="3931920" cy="749935"/>
          </a:xfrm>
          <a:custGeom>
            <a:avLst/>
            <a:gdLst/>
            <a:ahLst/>
            <a:cxnLst/>
            <a:rect l="l" t="t" r="r" b="b"/>
            <a:pathLst>
              <a:path w="3931920" h="749935">
                <a:moveTo>
                  <a:pt x="3931551" y="0"/>
                </a:moveTo>
                <a:lnTo>
                  <a:pt x="0" y="0"/>
                </a:lnTo>
                <a:lnTo>
                  <a:pt x="0" y="749515"/>
                </a:lnTo>
                <a:lnTo>
                  <a:pt x="1965960" y="749515"/>
                </a:lnTo>
                <a:lnTo>
                  <a:pt x="3931551" y="749515"/>
                </a:lnTo>
                <a:lnTo>
                  <a:pt x="3931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24704" y="2098509"/>
            <a:ext cx="1945639" cy="5397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10">
                <a:solidFill>
                  <a:srgbClr val="293A21"/>
                </a:solidFill>
                <a:latin typeface="Verdana"/>
                <a:cs typeface="Verdana"/>
              </a:rPr>
              <a:t>Dijkstra</a:t>
            </a:r>
            <a:r>
              <a:rPr dirty="0" sz="1600" spc="-14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600" spc="-130">
                <a:solidFill>
                  <a:srgbClr val="293A21"/>
                </a:solidFill>
                <a:latin typeface="Verdana"/>
                <a:cs typeface="Verdana"/>
              </a:rPr>
              <a:t>(binary</a:t>
            </a:r>
            <a:r>
              <a:rPr dirty="0" sz="1600" spc="-14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600" spc="-125">
                <a:solidFill>
                  <a:srgbClr val="293A21"/>
                </a:solidFill>
                <a:latin typeface="Verdana"/>
                <a:cs typeface="Verdana"/>
              </a:rPr>
              <a:t>heap)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 spc="10">
                <a:solidFill>
                  <a:srgbClr val="6A795D"/>
                </a:solidFill>
                <a:latin typeface="Tahoma"/>
                <a:cs typeface="Tahoma"/>
              </a:rPr>
              <a:t>Shortest</a:t>
            </a:r>
            <a:r>
              <a:rPr dirty="0" sz="1100" spc="1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6A795D"/>
                </a:solidFill>
                <a:latin typeface="Tahoma"/>
                <a:cs typeface="Tahoma"/>
              </a:rPr>
              <a:t>path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4742" y="2230885"/>
            <a:ext cx="129159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275">
                <a:solidFill>
                  <a:srgbClr val="69993E"/>
                </a:solidFill>
                <a:latin typeface="Verdana"/>
                <a:cs typeface="Verdana"/>
              </a:rPr>
              <a:t>O((V+E)</a:t>
            </a:r>
            <a:r>
              <a:rPr dirty="0" sz="1700" spc="-20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700" spc="-95">
                <a:solidFill>
                  <a:srgbClr val="69993E"/>
                </a:solidFill>
                <a:latin typeface="Verdana"/>
                <a:cs typeface="Verdana"/>
              </a:rPr>
              <a:t>log</a:t>
            </a:r>
            <a:r>
              <a:rPr dirty="0" sz="1700" spc="-19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700" spc="-190">
                <a:solidFill>
                  <a:srgbClr val="69993E"/>
                </a:solidFill>
                <a:latin typeface="Verdana"/>
                <a:cs typeface="Verdana"/>
              </a:rPr>
              <a:t>V)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54524" y="2880361"/>
            <a:ext cx="3931920" cy="749935"/>
          </a:xfrm>
          <a:custGeom>
            <a:avLst/>
            <a:gdLst/>
            <a:ahLst/>
            <a:cxnLst/>
            <a:rect l="l" t="t" r="r" b="b"/>
            <a:pathLst>
              <a:path w="3931920" h="749935">
                <a:moveTo>
                  <a:pt x="3931551" y="0"/>
                </a:moveTo>
                <a:lnTo>
                  <a:pt x="0" y="0"/>
                </a:lnTo>
                <a:lnTo>
                  <a:pt x="0" y="749515"/>
                </a:lnTo>
                <a:lnTo>
                  <a:pt x="1965960" y="749515"/>
                </a:lnTo>
                <a:lnTo>
                  <a:pt x="3931551" y="749515"/>
                </a:lnTo>
                <a:lnTo>
                  <a:pt x="39315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24704" y="2967189"/>
            <a:ext cx="1496060" cy="5397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215">
                <a:solidFill>
                  <a:srgbClr val="293A21"/>
                </a:solidFill>
                <a:latin typeface="Verdana"/>
                <a:cs typeface="Verdana"/>
              </a:rPr>
              <a:t>TSP</a:t>
            </a:r>
            <a:r>
              <a:rPr dirty="0" sz="1600" spc="-16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600" spc="-125">
                <a:solidFill>
                  <a:srgbClr val="293A21"/>
                </a:solidFill>
                <a:latin typeface="Verdana"/>
                <a:cs typeface="Verdana"/>
              </a:rPr>
              <a:t>(brute</a:t>
            </a:r>
            <a:r>
              <a:rPr dirty="0" sz="1600" spc="-16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600" spc="-100">
                <a:solidFill>
                  <a:srgbClr val="293A21"/>
                </a:solidFill>
                <a:latin typeface="Verdana"/>
                <a:cs typeface="Verdana"/>
              </a:rPr>
              <a:t>force)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Multi-stop</a:t>
            </a:r>
            <a:r>
              <a:rPr dirty="0" sz="1100" spc="38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35">
                <a:solidFill>
                  <a:srgbClr val="6A795D"/>
                </a:solidFill>
                <a:latin typeface="Tahoma"/>
                <a:cs typeface="Tahoma"/>
              </a:rPr>
              <a:t>sequencing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4735" y="3099565"/>
            <a:ext cx="48260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204">
                <a:solidFill>
                  <a:srgbClr val="C1245B"/>
                </a:solidFill>
                <a:latin typeface="Verdana"/>
                <a:cs typeface="Verdana"/>
              </a:rPr>
              <a:t>O(n!)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54879" y="3886201"/>
            <a:ext cx="411480" cy="411480"/>
            <a:chOff x="4754879" y="3886201"/>
            <a:chExt cx="411480" cy="411480"/>
          </a:xfrm>
        </p:grpSpPr>
        <p:sp>
          <p:nvSpPr>
            <p:cNvPr id="15" name="object 15"/>
            <p:cNvSpPr/>
            <p:nvPr/>
          </p:nvSpPr>
          <p:spPr>
            <a:xfrm>
              <a:off x="4754879" y="3886201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917" y="0"/>
                  </a:moveTo>
                  <a:lnTo>
                    <a:pt x="152547" y="6929"/>
                  </a:lnTo>
                  <a:lnTo>
                    <a:pt x="102958" y="27355"/>
                  </a:lnTo>
                  <a:lnTo>
                    <a:pt x="60345" y="59988"/>
                  </a:lnTo>
                  <a:lnTo>
                    <a:pt x="27724" y="102603"/>
                  </a:lnTo>
                  <a:lnTo>
                    <a:pt x="6975" y="152325"/>
                  </a:lnTo>
                  <a:lnTo>
                    <a:pt x="0" y="205562"/>
                  </a:lnTo>
                  <a:lnTo>
                    <a:pt x="1749" y="232429"/>
                  </a:lnTo>
                  <a:lnTo>
                    <a:pt x="15644" y="284282"/>
                  </a:lnTo>
                  <a:lnTo>
                    <a:pt x="42667" y="330958"/>
                  </a:lnTo>
                  <a:lnTo>
                    <a:pt x="80521" y="368812"/>
                  </a:lnTo>
                  <a:lnTo>
                    <a:pt x="127145" y="395685"/>
                  </a:lnTo>
                  <a:lnTo>
                    <a:pt x="178895" y="409680"/>
                  </a:lnTo>
                  <a:lnTo>
                    <a:pt x="205917" y="411480"/>
                  </a:lnTo>
                  <a:lnTo>
                    <a:pt x="232734" y="409680"/>
                  </a:lnTo>
                  <a:lnTo>
                    <a:pt x="284340" y="395685"/>
                  </a:lnTo>
                  <a:lnTo>
                    <a:pt x="330958" y="368812"/>
                  </a:lnTo>
                  <a:lnTo>
                    <a:pt x="368812" y="330958"/>
                  </a:lnTo>
                  <a:lnTo>
                    <a:pt x="395835" y="284282"/>
                  </a:lnTo>
                  <a:lnTo>
                    <a:pt x="409730" y="232429"/>
                  </a:lnTo>
                  <a:lnTo>
                    <a:pt x="411480" y="205562"/>
                  </a:lnTo>
                  <a:lnTo>
                    <a:pt x="409730" y="178689"/>
                  </a:lnTo>
                  <a:lnTo>
                    <a:pt x="395835" y="126839"/>
                  </a:lnTo>
                  <a:lnTo>
                    <a:pt x="368812" y="80165"/>
                  </a:lnTo>
                  <a:lnTo>
                    <a:pt x="330958" y="42306"/>
                  </a:lnTo>
                  <a:lnTo>
                    <a:pt x="284340" y="15489"/>
                  </a:lnTo>
                  <a:lnTo>
                    <a:pt x="232734" y="1743"/>
                  </a:lnTo>
                  <a:lnTo>
                    <a:pt x="205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7838" y="3988805"/>
              <a:ext cx="205562" cy="20556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45100" y="3896539"/>
            <a:ext cx="2922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10" i="1">
                <a:solidFill>
                  <a:srgbClr val="4B792D"/>
                </a:solidFill>
                <a:latin typeface="Calibri"/>
                <a:cs typeface="Calibri"/>
              </a:rPr>
              <a:t>TSP</a:t>
            </a:r>
            <a:r>
              <a:rPr dirty="0" sz="1200" spc="14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50" i="1">
                <a:solidFill>
                  <a:srgbClr val="4B792D"/>
                </a:solidFill>
                <a:latin typeface="Calibri"/>
                <a:cs typeface="Calibri"/>
              </a:rPr>
              <a:t>becomes</a:t>
            </a:r>
            <a:r>
              <a:rPr dirty="0" sz="1200" spc="14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45" i="1">
                <a:solidFill>
                  <a:srgbClr val="4B792D"/>
                </a:solidFill>
                <a:latin typeface="Calibri"/>
                <a:cs typeface="Calibri"/>
              </a:rPr>
              <a:t>computationally</a:t>
            </a:r>
            <a:r>
              <a:rPr dirty="0" sz="1200" spc="14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10" i="1">
                <a:solidFill>
                  <a:srgbClr val="4B792D"/>
                </a:solidFill>
                <a:latin typeface="Calibri"/>
                <a:cs typeface="Calibri"/>
              </a:rPr>
              <a:t>expensive</a:t>
            </a:r>
            <a:r>
              <a:rPr dirty="0" sz="1200" spc="14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30" i="1">
                <a:solidFill>
                  <a:srgbClr val="4B792D"/>
                </a:solidFill>
                <a:latin typeface="Calibri"/>
                <a:cs typeface="Calibri"/>
              </a:rPr>
              <a:t>as</a:t>
            </a:r>
            <a:r>
              <a:rPr dirty="0" sz="1200" spc="3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10" i="1">
                <a:solidFill>
                  <a:srgbClr val="4B792D"/>
                </a:solidFill>
                <a:latin typeface="Calibri"/>
                <a:cs typeface="Calibri"/>
              </a:rPr>
              <a:t>delivery</a:t>
            </a:r>
            <a:r>
              <a:rPr dirty="0" sz="1200" spc="28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10" i="1">
                <a:solidFill>
                  <a:srgbClr val="4B792D"/>
                </a:solidFill>
                <a:latin typeface="Calibri"/>
                <a:cs typeface="Calibri"/>
              </a:rPr>
              <a:t>locations</a:t>
            </a:r>
            <a:r>
              <a:rPr dirty="0" sz="1200" spc="29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4B792D"/>
                </a:solidFill>
                <a:latin typeface="Calibri"/>
                <a:cs typeface="Calibri"/>
              </a:rPr>
              <a:t>increase.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8" name="object 18" descr="innovation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4224237"/>
            <a:ext cx="1173962" cy="776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06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405"/>
              <a:t>Demo</a:t>
            </a:r>
            <a:r>
              <a:rPr dirty="0" spc="-490"/>
              <a:t> </a:t>
            </a:r>
            <a:r>
              <a:rPr dirty="0" spc="-315"/>
              <a:t>&amp;</a:t>
            </a:r>
            <a:r>
              <a:rPr dirty="0" spc="-490"/>
              <a:t> </a:t>
            </a:r>
            <a:r>
              <a:rPr dirty="0" spc="-285"/>
              <a:t>Results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0494" y="1090576"/>
            <a:ext cx="4950460" cy="3578860"/>
            <a:chOff x="450494" y="1090576"/>
            <a:chExt cx="4950460" cy="3578860"/>
          </a:xfrm>
        </p:grpSpPr>
        <p:sp>
          <p:nvSpPr>
            <p:cNvPr id="5" name="object 5"/>
            <p:cNvSpPr/>
            <p:nvPr/>
          </p:nvSpPr>
          <p:spPr>
            <a:xfrm>
              <a:off x="456844" y="1096926"/>
              <a:ext cx="4937760" cy="3566160"/>
            </a:xfrm>
            <a:custGeom>
              <a:avLst/>
              <a:gdLst/>
              <a:ahLst/>
              <a:cxnLst/>
              <a:rect l="l" t="t" r="r" b="b"/>
              <a:pathLst>
                <a:path w="4937760" h="3566160">
                  <a:moveTo>
                    <a:pt x="4937391" y="0"/>
                  </a:moveTo>
                  <a:lnTo>
                    <a:pt x="0" y="0"/>
                  </a:lnTo>
                  <a:lnTo>
                    <a:pt x="0" y="3565791"/>
                  </a:lnTo>
                  <a:lnTo>
                    <a:pt x="2468880" y="3565791"/>
                  </a:lnTo>
                  <a:lnTo>
                    <a:pt x="4937391" y="3565791"/>
                  </a:lnTo>
                  <a:lnTo>
                    <a:pt x="4937391" y="0"/>
                  </a:lnTo>
                  <a:close/>
                </a:path>
              </a:pathLst>
            </a:custGeom>
            <a:solidFill>
              <a:srgbClr val="E2ED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6844" y="1096926"/>
              <a:ext cx="4937760" cy="3566160"/>
            </a:xfrm>
            <a:custGeom>
              <a:avLst/>
              <a:gdLst/>
              <a:ahLst/>
              <a:cxnLst/>
              <a:rect l="l" t="t" r="r" b="b"/>
              <a:pathLst>
                <a:path w="4937760" h="3566160">
                  <a:moveTo>
                    <a:pt x="2468880" y="3565791"/>
                  </a:moveTo>
                  <a:lnTo>
                    <a:pt x="0" y="3565791"/>
                  </a:lnTo>
                  <a:lnTo>
                    <a:pt x="0" y="0"/>
                  </a:lnTo>
                  <a:lnTo>
                    <a:pt x="4937391" y="0"/>
                  </a:lnTo>
                  <a:lnTo>
                    <a:pt x="4937391" y="3565791"/>
                  </a:lnTo>
                  <a:lnTo>
                    <a:pt x="2468880" y="3565791"/>
                  </a:lnTo>
                  <a:close/>
                </a:path>
              </a:pathLst>
            </a:custGeom>
            <a:ln w="125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1097282"/>
              <a:ext cx="4937760" cy="3566160"/>
            </a:xfrm>
            <a:custGeom>
              <a:avLst/>
              <a:gdLst/>
              <a:ahLst/>
              <a:cxnLst/>
              <a:rect l="l" t="t" r="r" b="b"/>
              <a:pathLst>
                <a:path w="4937760" h="3566160">
                  <a:moveTo>
                    <a:pt x="822960" y="0"/>
                  </a:moveTo>
                  <a:lnTo>
                    <a:pt x="823315" y="3566159"/>
                  </a:lnTo>
                </a:path>
                <a:path w="4937760" h="3566160">
                  <a:moveTo>
                    <a:pt x="1645920" y="0"/>
                  </a:moveTo>
                  <a:lnTo>
                    <a:pt x="1646275" y="3566159"/>
                  </a:lnTo>
                </a:path>
                <a:path w="4937760" h="3566160">
                  <a:moveTo>
                    <a:pt x="2468880" y="0"/>
                  </a:moveTo>
                  <a:lnTo>
                    <a:pt x="2469235" y="3566159"/>
                  </a:lnTo>
                </a:path>
                <a:path w="4937760" h="3566160">
                  <a:moveTo>
                    <a:pt x="3291840" y="0"/>
                  </a:moveTo>
                  <a:lnTo>
                    <a:pt x="3292195" y="3566159"/>
                  </a:lnTo>
                </a:path>
                <a:path w="4937760" h="3566160">
                  <a:moveTo>
                    <a:pt x="4114800" y="0"/>
                  </a:moveTo>
                  <a:lnTo>
                    <a:pt x="4115155" y="3566159"/>
                  </a:lnTo>
                </a:path>
                <a:path w="4937760" h="3566160">
                  <a:moveTo>
                    <a:pt x="0" y="891362"/>
                  </a:moveTo>
                  <a:lnTo>
                    <a:pt x="4937760" y="891717"/>
                  </a:lnTo>
                </a:path>
                <a:path w="4937760" h="3566160">
                  <a:moveTo>
                    <a:pt x="0" y="1783079"/>
                  </a:moveTo>
                  <a:lnTo>
                    <a:pt x="4937760" y="1783435"/>
                  </a:lnTo>
                </a:path>
                <a:path w="4937760" h="3566160">
                  <a:moveTo>
                    <a:pt x="0" y="2674442"/>
                  </a:moveTo>
                  <a:lnTo>
                    <a:pt x="4937760" y="2674797"/>
                  </a:lnTo>
                </a:path>
              </a:pathLst>
            </a:custGeom>
            <a:ln w="93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05840" y="1463042"/>
              <a:ext cx="3566160" cy="2468880"/>
            </a:xfrm>
            <a:custGeom>
              <a:avLst/>
              <a:gdLst/>
              <a:ahLst/>
              <a:cxnLst/>
              <a:rect l="l" t="t" r="r" b="b"/>
              <a:pathLst>
                <a:path w="3566160" h="2468879">
                  <a:moveTo>
                    <a:pt x="731520" y="365760"/>
                  </a:moveTo>
                  <a:lnTo>
                    <a:pt x="0" y="2468880"/>
                  </a:lnTo>
                </a:path>
                <a:path w="3566160" h="2468879">
                  <a:moveTo>
                    <a:pt x="2286000" y="0"/>
                  </a:moveTo>
                  <a:lnTo>
                    <a:pt x="731520" y="365760"/>
                  </a:lnTo>
                </a:path>
                <a:path w="3566160" h="2468879">
                  <a:moveTo>
                    <a:pt x="2286000" y="0"/>
                  </a:moveTo>
                  <a:lnTo>
                    <a:pt x="3566160" y="914400"/>
                  </a:lnTo>
                </a:path>
                <a:path w="3566160" h="2468879">
                  <a:moveTo>
                    <a:pt x="3566160" y="914400"/>
                  </a:moveTo>
                  <a:lnTo>
                    <a:pt x="2468880" y="2377440"/>
                  </a:lnTo>
                </a:path>
                <a:path w="3566160" h="2468879">
                  <a:moveTo>
                    <a:pt x="2468880" y="2377440"/>
                  </a:moveTo>
                  <a:lnTo>
                    <a:pt x="0" y="2468880"/>
                  </a:lnTo>
                </a:path>
              </a:pathLst>
            </a:custGeom>
            <a:ln w="31679">
              <a:solidFill>
                <a:srgbClr val="69993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6884" y="370296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6999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6884" y="370296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6955" y="67002"/>
                  </a:lnTo>
                  <a:lnTo>
                    <a:pt x="114109" y="30594"/>
                  </a:lnTo>
                  <a:lnTo>
                    <a:pt x="169464" y="7739"/>
                  </a:lnTo>
                  <a:lnTo>
                    <a:pt x="228600" y="0"/>
                  </a:lnTo>
                  <a:lnTo>
                    <a:pt x="287724" y="7739"/>
                  </a:lnTo>
                  <a:lnTo>
                    <a:pt x="343077" y="30594"/>
                  </a:lnTo>
                  <a:lnTo>
                    <a:pt x="390236" y="67002"/>
                  </a:lnTo>
                  <a:lnTo>
                    <a:pt x="426593" y="114477"/>
                  </a:lnTo>
                  <a:lnTo>
                    <a:pt x="449459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59" y="287724"/>
                  </a:lnTo>
                  <a:lnTo>
                    <a:pt x="426593" y="343077"/>
                  </a:lnTo>
                  <a:lnTo>
                    <a:pt x="390236" y="390236"/>
                  </a:lnTo>
                  <a:lnTo>
                    <a:pt x="343077" y="426593"/>
                  </a:lnTo>
                  <a:lnTo>
                    <a:pt x="287724" y="449459"/>
                  </a:lnTo>
                  <a:lnTo>
                    <a:pt x="228600" y="457200"/>
                  </a:lnTo>
                  <a:lnTo>
                    <a:pt x="169510" y="449459"/>
                  </a:lnTo>
                  <a:lnTo>
                    <a:pt x="114477" y="426593"/>
                  </a:lnTo>
                  <a:lnTo>
                    <a:pt x="67002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25559">
              <a:solidFill>
                <a:srgbClr val="F0F5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63144" y="4179664"/>
            <a:ext cx="81280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30200">
              <a:lnSpc>
                <a:spcPct val="100000"/>
              </a:lnSpc>
              <a:spcBef>
                <a:spcPts val="114"/>
              </a:spcBef>
            </a:pPr>
            <a:r>
              <a:rPr dirty="0" sz="1250" spc="-10">
                <a:solidFill>
                  <a:srgbClr val="293A21"/>
                </a:solidFill>
                <a:latin typeface="Verdana"/>
                <a:cs typeface="Verdana"/>
              </a:rPr>
              <a:t>Depot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9458" y="1650900"/>
            <a:ext cx="355600" cy="355600"/>
            <a:chOff x="1559458" y="1650900"/>
            <a:chExt cx="355600" cy="355600"/>
          </a:xfrm>
        </p:grpSpPr>
        <p:sp>
          <p:nvSpPr>
            <p:cNvPr id="13" name="object 13"/>
            <p:cNvSpPr/>
            <p:nvPr/>
          </p:nvSpPr>
          <p:spPr>
            <a:xfrm>
              <a:off x="1572475" y="166391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28" y="0"/>
                  </a:moveTo>
                  <a:lnTo>
                    <a:pt x="122002" y="5583"/>
                  </a:lnTo>
                  <a:lnTo>
                    <a:pt x="82448" y="21958"/>
                  </a:lnTo>
                  <a:lnTo>
                    <a:pt x="48150" y="48150"/>
                  </a:lnTo>
                  <a:lnTo>
                    <a:pt x="21958" y="82448"/>
                  </a:lnTo>
                  <a:lnTo>
                    <a:pt x="5583" y="122002"/>
                  </a:lnTo>
                  <a:lnTo>
                    <a:pt x="0" y="164528"/>
                  </a:lnTo>
                  <a:lnTo>
                    <a:pt x="1407" y="186011"/>
                  </a:lnTo>
                  <a:lnTo>
                    <a:pt x="12456" y="227502"/>
                  </a:lnTo>
                  <a:lnTo>
                    <a:pt x="33940" y="264812"/>
                  </a:lnTo>
                  <a:lnTo>
                    <a:pt x="64386" y="295109"/>
                  </a:lnTo>
                  <a:lnTo>
                    <a:pt x="101702" y="316592"/>
                  </a:lnTo>
                  <a:lnTo>
                    <a:pt x="143045" y="327638"/>
                  </a:lnTo>
                  <a:lnTo>
                    <a:pt x="164528" y="329044"/>
                  </a:lnTo>
                  <a:lnTo>
                    <a:pt x="186011" y="327638"/>
                  </a:lnTo>
                  <a:lnTo>
                    <a:pt x="227502" y="316592"/>
                  </a:lnTo>
                  <a:lnTo>
                    <a:pt x="264812" y="295109"/>
                  </a:lnTo>
                  <a:lnTo>
                    <a:pt x="295109" y="264812"/>
                  </a:lnTo>
                  <a:lnTo>
                    <a:pt x="316592" y="227502"/>
                  </a:lnTo>
                  <a:lnTo>
                    <a:pt x="327638" y="186011"/>
                  </a:lnTo>
                  <a:lnTo>
                    <a:pt x="329044" y="164528"/>
                  </a:lnTo>
                  <a:lnTo>
                    <a:pt x="327638" y="143045"/>
                  </a:lnTo>
                  <a:lnTo>
                    <a:pt x="316592" y="101702"/>
                  </a:lnTo>
                  <a:lnTo>
                    <a:pt x="295109" y="64386"/>
                  </a:lnTo>
                  <a:lnTo>
                    <a:pt x="264812" y="33940"/>
                  </a:lnTo>
                  <a:lnTo>
                    <a:pt x="227502" y="12456"/>
                  </a:lnTo>
                  <a:lnTo>
                    <a:pt x="186011" y="1407"/>
                  </a:lnTo>
                  <a:lnTo>
                    <a:pt x="164528" y="0"/>
                  </a:lnTo>
                  <a:close/>
                </a:path>
              </a:pathLst>
            </a:custGeom>
            <a:solidFill>
              <a:srgbClr val="C12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72475" y="166391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528"/>
                  </a:moveTo>
                  <a:lnTo>
                    <a:pt x="1407" y="143045"/>
                  </a:lnTo>
                  <a:lnTo>
                    <a:pt x="5583" y="122002"/>
                  </a:lnTo>
                  <a:lnTo>
                    <a:pt x="21958" y="82448"/>
                  </a:lnTo>
                  <a:lnTo>
                    <a:pt x="48150" y="48150"/>
                  </a:lnTo>
                  <a:lnTo>
                    <a:pt x="82448" y="21958"/>
                  </a:lnTo>
                  <a:lnTo>
                    <a:pt x="122002" y="5583"/>
                  </a:lnTo>
                  <a:lnTo>
                    <a:pt x="164528" y="0"/>
                  </a:lnTo>
                  <a:lnTo>
                    <a:pt x="207094" y="5583"/>
                  </a:lnTo>
                  <a:lnTo>
                    <a:pt x="246964" y="21958"/>
                  </a:lnTo>
                  <a:lnTo>
                    <a:pt x="280939" y="48150"/>
                  </a:lnTo>
                  <a:lnTo>
                    <a:pt x="307086" y="82448"/>
                  </a:lnTo>
                  <a:lnTo>
                    <a:pt x="323465" y="122002"/>
                  </a:lnTo>
                  <a:lnTo>
                    <a:pt x="329044" y="164528"/>
                  </a:lnTo>
                  <a:lnTo>
                    <a:pt x="327638" y="186011"/>
                  </a:lnTo>
                  <a:lnTo>
                    <a:pt x="323465" y="207094"/>
                  </a:lnTo>
                  <a:lnTo>
                    <a:pt x="307086" y="246964"/>
                  </a:lnTo>
                  <a:lnTo>
                    <a:pt x="280939" y="280939"/>
                  </a:lnTo>
                  <a:lnTo>
                    <a:pt x="246964" y="307086"/>
                  </a:lnTo>
                  <a:lnTo>
                    <a:pt x="207094" y="323465"/>
                  </a:lnTo>
                  <a:lnTo>
                    <a:pt x="164528" y="329044"/>
                  </a:lnTo>
                  <a:lnTo>
                    <a:pt x="122002" y="323465"/>
                  </a:lnTo>
                  <a:lnTo>
                    <a:pt x="82448" y="307086"/>
                  </a:lnTo>
                  <a:lnTo>
                    <a:pt x="48150" y="280939"/>
                  </a:lnTo>
                  <a:lnTo>
                    <a:pt x="21958" y="246964"/>
                  </a:lnTo>
                  <a:lnTo>
                    <a:pt x="5583" y="207094"/>
                  </a:lnTo>
                  <a:lnTo>
                    <a:pt x="1407" y="186011"/>
                  </a:lnTo>
                  <a:lnTo>
                    <a:pt x="0" y="164528"/>
                  </a:lnTo>
                  <a:close/>
                </a:path>
              </a:pathLst>
            </a:custGeom>
            <a:ln w="25559">
              <a:solidFill>
                <a:srgbClr val="F0F5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85195" y="2012473"/>
            <a:ext cx="81343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60045">
              <a:lnSpc>
                <a:spcPct val="100000"/>
              </a:lnSpc>
              <a:spcBef>
                <a:spcPts val="114"/>
              </a:spcBef>
            </a:pPr>
            <a:r>
              <a:rPr dirty="0" sz="1250" spc="-25">
                <a:solidFill>
                  <a:srgbClr val="293A21"/>
                </a:solidFill>
                <a:latin typeface="Verdana"/>
                <a:cs typeface="Verdana"/>
              </a:rPr>
              <a:t>D1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13938" y="1285140"/>
            <a:ext cx="355600" cy="355600"/>
            <a:chOff x="3113938" y="1285140"/>
            <a:chExt cx="355600" cy="355600"/>
          </a:xfrm>
        </p:grpSpPr>
        <p:sp>
          <p:nvSpPr>
            <p:cNvPr id="17" name="object 17"/>
            <p:cNvSpPr/>
            <p:nvPr/>
          </p:nvSpPr>
          <p:spPr>
            <a:xfrm>
              <a:off x="3126955" y="129815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28" y="0"/>
                  </a:moveTo>
                  <a:lnTo>
                    <a:pt x="122002" y="5583"/>
                  </a:lnTo>
                  <a:lnTo>
                    <a:pt x="82448" y="21958"/>
                  </a:lnTo>
                  <a:lnTo>
                    <a:pt x="48150" y="48150"/>
                  </a:lnTo>
                  <a:lnTo>
                    <a:pt x="21958" y="82448"/>
                  </a:lnTo>
                  <a:lnTo>
                    <a:pt x="5583" y="122002"/>
                  </a:lnTo>
                  <a:lnTo>
                    <a:pt x="0" y="164528"/>
                  </a:lnTo>
                  <a:lnTo>
                    <a:pt x="1407" y="186011"/>
                  </a:lnTo>
                  <a:lnTo>
                    <a:pt x="12456" y="227502"/>
                  </a:lnTo>
                  <a:lnTo>
                    <a:pt x="33940" y="264812"/>
                  </a:lnTo>
                  <a:lnTo>
                    <a:pt x="64386" y="295109"/>
                  </a:lnTo>
                  <a:lnTo>
                    <a:pt x="101702" y="316592"/>
                  </a:lnTo>
                  <a:lnTo>
                    <a:pt x="143045" y="327638"/>
                  </a:lnTo>
                  <a:lnTo>
                    <a:pt x="164528" y="329044"/>
                  </a:lnTo>
                  <a:lnTo>
                    <a:pt x="186011" y="327638"/>
                  </a:lnTo>
                  <a:lnTo>
                    <a:pt x="227502" y="316592"/>
                  </a:lnTo>
                  <a:lnTo>
                    <a:pt x="264812" y="295109"/>
                  </a:lnTo>
                  <a:lnTo>
                    <a:pt x="295109" y="264812"/>
                  </a:lnTo>
                  <a:lnTo>
                    <a:pt x="316592" y="227502"/>
                  </a:lnTo>
                  <a:lnTo>
                    <a:pt x="327638" y="186011"/>
                  </a:lnTo>
                  <a:lnTo>
                    <a:pt x="329044" y="164528"/>
                  </a:lnTo>
                  <a:lnTo>
                    <a:pt x="327638" y="143045"/>
                  </a:lnTo>
                  <a:lnTo>
                    <a:pt x="316592" y="101702"/>
                  </a:lnTo>
                  <a:lnTo>
                    <a:pt x="295109" y="64386"/>
                  </a:lnTo>
                  <a:lnTo>
                    <a:pt x="264812" y="33940"/>
                  </a:lnTo>
                  <a:lnTo>
                    <a:pt x="227502" y="12456"/>
                  </a:lnTo>
                  <a:lnTo>
                    <a:pt x="186011" y="1407"/>
                  </a:lnTo>
                  <a:lnTo>
                    <a:pt x="164528" y="0"/>
                  </a:lnTo>
                  <a:close/>
                </a:path>
              </a:pathLst>
            </a:custGeom>
            <a:solidFill>
              <a:srgbClr val="C124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26955" y="129815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528"/>
                  </a:moveTo>
                  <a:lnTo>
                    <a:pt x="1407" y="143045"/>
                  </a:lnTo>
                  <a:lnTo>
                    <a:pt x="5583" y="122002"/>
                  </a:lnTo>
                  <a:lnTo>
                    <a:pt x="21958" y="82448"/>
                  </a:lnTo>
                  <a:lnTo>
                    <a:pt x="48150" y="48150"/>
                  </a:lnTo>
                  <a:lnTo>
                    <a:pt x="82448" y="21958"/>
                  </a:lnTo>
                  <a:lnTo>
                    <a:pt x="122002" y="5583"/>
                  </a:lnTo>
                  <a:lnTo>
                    <a:pt x="164528" y="0"/>
                  </a:lnTo>
                  <a:lnTo>
                    <a:pt x="207094" y="5583"/>
                  </a:lnTo>
                  <a:lnTo>
                    <a:pt x="246964" y="21958"/>
                  </a:lnTo>
                  <a:lnTo>
                    <a:pt x="280939" y="48150"/>
                  </a:lnTo>
                  <a:lnTo>
                    <a:pt x="307085" y="82448"/>
                  </a:lnTo>
                  <a:lnTo>
                    <a:pt x="323465" y="122002"/>
                  </a:lnTo>
                  <a:lnTo>
                    <a:pt x="329044" y="164528"/>
                  </a:lnTo>
                  <a:lnTo>
                    <a:pt x="327638" y="186011"/>
                  </a:lnTo>
                  <a:lnTo>
                    <a:pt x="323465" y="207094"/>
                  </a:lnTo>
                  <a:lnTo>
                    <a:pt x="307085" y="246964"/>
                  </a:lnTo>
                  <a:lnTo>
                    <a:pt x="280939" y="280939"/>
                  </a:lnTo>
                  <a:lnTo>
                    <a:pt x="246964" y="307086"/>
                  </a:lnTo>
                  <a:lnTo>
                    <a:pt x="207094" y="323465"/>
                  </a:lnTo>
                  <a:lnTo>
                    <a:pt x="164528" y="329044"/>
                  </a:lnTo>
                  <a:lnTo>
                    <a:pt x="122002" y="323465"/>
                  </a:lnTo>
                  <a:lnTo>
                    <a:pt x="82448" y="307086"/>
                  </a:lnTo>
                  <a:lnTo>
                    <a:pt x="48150" y="280939"/>
                  </a:lnTo>
                  <a:lnTo>
                    <a:pt x="21958" y="246964"/>
                  </a:lnTo>
                  <a:lnTo>
                    <a:pt x="5583" y="207094"/>
                  </a:lnTo>
                  <a:lnTo>
                    <a:pt x="1407" y="186011"/>
                  </a:lnTo>
                  <a:lnTo>
                    <a:pt x="0" y="164528"/>
                  </a:lnTo>
                  <a:close/>
                </a:path>
              </a:pathLst>
            </a:custGeom>
            <a:ln w="25559">
              <a:solidFill>
                <a:srgbClr val="F0F5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931115" y="1646713"/>
            <a:ext cx="81343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114"/>
              </a:spcBef>
            </a:pPr>
            <a:r>
              <a:rPr dirty="0" sz="1250" spc="-25">
                <a:solidFill>
                  <a:srgbClr val="293A21"/>
                </a:solidFill>
                <a:latin typeface="Verdana"/>
                <a:cs typeface="Verdana"/>
              </a:rPr>
              <a:t>D3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94098" y="2199540"/>
            <a:ext cx="355600" cy="355600"/>
            <a:chOff x="4394098" y="2199540"/>
            <a:chExt cx="355600" cy="355600"/>
          </a:xfrm>
        </p:grpSpPr>
        <p:sp>
          <p:nvSpPr>
            <p:cNvPr id="21" name="object 21"/>
            <p:cNvSpPr/>
            <p:nvPr/>
          </p:nvSpPr>
          <p:spPr>
            <a:xfrm>
              <a:off x="4407115" y="221255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28" y="0"/>
                  </a:moveTo>
                  <a:lnTo>
                    <a:pt x="121956" y="5583"/>
                  </a:lnTo>
                  <a:lnTo>
                    <a:pt x="82080" y="21958"/>
                  </a:lnTo>
                  <a:lnTo>
                    <a:pt x="48104" y="48150"/>
                  </a:lnTo>
                  <a:lnTo>
                    <a:pt x="21958" y="82448"/>
                  </a:lnTo>
                  <a:lnTo>
                    <a:pt x="5583" y="122002"/>
                  </a:lnTo>
                  <a:lnTo>
                    <a:pt x="0" y="164528"/>
                  </a:lnTo>
                  <a:lnTo>
                    <a:pt x="1407" y="186011"/>
                  </a:lnTo>
                  <a:lnTo>
                    <a:pt x="12456" y="227502"/>
                  </a:lnTo>
                  <a:lnTo>
                    <a:pt x="33934" y="264812"/>
                  </a:lnTo>
                  <a:lnTo>
                    <a:pt x="64231" y="295109"/>
                  </a:lnTo>
                  <a:lnTo>
                    <a:pt x="101547" y="316592"/>
                  </a:lnTo>
                  <a:lnTo>
                    <a:pt x="143039" y="327638"/>
                  </a:lnTo>
                  <a:lnTo>
                    <a:pt x="164528" y="329044"/>
                  </a:lnTo>
                  <a:lnTo>
                    <a:pt x="186006" y="327638"/>
                  </a:lnTo>
                  <a:lnTo>
                    <a:pt x="227352" y="316592"/>
                  </a:lnTo>
                  <a:lnTo>
                    <a:pt x="264662" y="295109"/>
                  </a:lnTo>
                  <a:lnTo>
                    <a:pt x="295103" y="264812"/>
                  </a:lnTo>
                  <a:lnTo>
                    <a:pt x="316592" y="227502"/>
                  </a:lnTo>
                  <a:lnTo>
                    <a:pt x="327638" y="186011"/>
                  </a:lnTo>
                  <a:lnTo>
                    <a:pt x="329044" y="164528"/>
                  </a:lnTo>
                  <a:lnTo>
                    <a:pt x="327638" y="143045"/>
                  </a:lnTo>
                  <a:lnTo>
                    <a:pt x="316592" y="101702"/>
                  </a:lnTo>
                  <a:lnTo>
                    <a:pt x="295103" y="64386"/>
                  </a:lnTo>
                  <a:lnTo>
                    <a:pt x="264662" y="33940"/>
                  </a:lnTo>
                  <a:lnTo>
                    <a:pt x="227352" y="12456"/>
                  </a:lnTo>
                  <a:lnTo>
                    <a:pt x="186006" y="1407"/>
                  </a:lnTo>
                  <a:lnTo>
                    <a:pt x="164528" y="0"/>
                  </a:lnTo>
                  <a:close/>
                </a:path>
              </a:pathLst>
            </a:custGeom>
            <a:solidFill>
              <a:srgbClr val="4B79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07115" y="221255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528"/>
                  </a:moveTo>
                  <a:lnTo>
                    <a:pt x="1407" y="143045"/>
                  </a:lnTo>
                  <a:lnTo>
                    <a:pt x="5583" y="122002"/>
                  </a:lnTo>
                  <a:lnTo>
                    <a:pt x="21958" y="82448"/>
                  </a:lnTo>
                  <a:lnTo>
                    <a:pt x="48104" y="48150"/>
                  </a:lnTo>
                  <a:lnTo>
                    <a:pt x="82080" y="21958"/>
                  </a:lnTo>
                  <a:lnTo>
                    <a:pt x="121956" y="5583"/>
                  </a:lnTo>
                  <a:lnTo>
                    <a:pt x="164528" y="0"/>
                  </a:lnTo>
                  <a:lnTo>
                    <a:pt x="207049" y="5583"/>
                  </a:lnTo>
                  <a:lnTo>
                    <a:pt x="246608" y="21958"/>
                  </a:lnTo>
                  <a:lnTo>
                    <a:pt x="280895" y="48150"/>
                  </a:lnTo>
                  <a:lnTo>
                    <a:pt x="307086" y="82448"/>
                  </a:lnTo>
                  <a:lnTo>
                    <a:pt x="323465" y="122002"/>
                  </a:lnTo>
                  <a:lnTo>
                    <a:pt x="329044" y="164528"/>
                  </a:lnTo>
                  <a:lnTo>
                    <a:pt x="327638" y="186011"/>
                  </a:lnTo>
                  <a:lnTo>
                    <a:pt x="323465" y="207094"/>
                  </a:lnTo>
                  <a:lnTo>
                    <a:pt x="307086" y="246964"/>
                  </a:lnTo>
                  <a:lnTo>
                    <a:pt x="280895" y="280939"/>
                  </a:lnTo>
                  <a:lnTo>
                    <a:pt x="246608" y="307086"/>
                  </a:lnTo>
                  <a:lnTo>
                    <a:pt x="207049" y="323465"/>
                  </a:lnTo>
                  <a:lnTo>
                    <a:pt x="164528" y="329044"/>
                  </a:lnTo>
                  <a:lnTo>
                    <a:pt x="121956" y="323465"/>
                  </a:lnTo>
                  <a:lnTo>
                    <a:pt x="82080" y="307086"/>
                  </a:lnTo>
                  <a:lnTo>
                    <a:pt x="48104" y="280939"/>
                  </a:lnTo>
                  <a:lnTo>
                    <a:pt x="21958" y="246964"/>
                  </a:lnTo>
                  <a:lnTo>
                    <a:pt x="5583" y="207094"/>
                  </a:lnTo>
                  <a:lnTo>
                    <a:pt x="1407" y="186011"/>
                  </a:lnTo>
                  <a:lnTo>
                    <a:pt x="0" y="164528"/>
                  </a:lnTo>
                  <a:close/>
                </a:path>
              </a:pathLst>
            </a:custGeom>
            <a:ln w="25559">
              <a:solidFill>
                <a:srgbClr val="F0F5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480204" y="2561113"/>
            <a:ext cx="19558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250" spc="-145">
                <a:solidFill>
                  <a:srgbClr val="293A21"/>
                </a:solidFill>
                <a:latin typeface="Verdana"/>
                <a:cs typeface="Verdana"/>
              </a:rPr>
              <a:t>D2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96818" y="3662580"/>
            <a:ext cx="355600" cy="355600"/>
            <a:chOff x="3296818" y="3662580"/>
            <a:chExt cx="355600" cy="355600"/>
          </a:xfrm>
        </p:grpSpPr>
        <p:sp>
          <p:nvSpPr>
            <p:cNvPr id="25" name="object 25"/>
            <p:cNvSpPr/>
            <p:nvPr/>
          </p:nvSpPr>
          <p:spPr>
            <a:xfrm>
              <a:off x="3309836" y="367559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164528" y="0"/>
                  </a:moveTo>
                  <a:lnTo>
                    <a:pt x="122002" y="5583"/>
                  </a:lnTo>
                  <a:lnTo>
                    <a:pt x="82448" y="21958"/>
                  </a:lnTo>
                  <a:lnTo>
                    <a:pt x="48150" y="48104"/>
                  </a:lnTo>
                  <a:lnTo>
                    <a:pt x="21958" y="82080"/>
                  </a:lnTo>
                  <a:lnTo>
                    <a:pt x="5583" y="121956"/>
                  </a:lnTo>
                  <a:lnTo>
                    <a:pt x="0" y="164528"/>
                  </a:lnTo>
                  <a:lnTo>
                    <a:pt x="1407" y="186006"/>
                  </a:lnTo>
                  <a:lnTo>
                    <a:pt x="12456" y="227352"/>
                  </a:lnTo>
                  <a:lnTo>
                    <a:pt x="33940" y="264662"/>
                  </a:lnTo>
                  <a:lnTo>
                    <a:pt x="64386" y="295103"/>
                  </a:lnTo>
                  <a:lnTo>
                    <a:pt x="101702" y="316592"/>
                  </a:lnTo>
                  <a:lnTo>
                    <a:pt x="143045" y="327638"/>
                  </a:lnTo>
                  <a:lnTo>
                    <a:pt x="164528" y="329044"/>
                  </a:lnTo>
                  <a:lnTo>
                    <a:pt x="186011" y="327638"/>
                  </a:lnTo>
                  <a:lnTo>
                    <a:pt x="227502" y="316592"/>
                  </a:lnTo>
                  <a:lnTo>
                    <a:pt x="264812" y="295103"/>
                  </a:lnTo>
                  <a:lnTo>
                    <a:pt x="295109" y="264662"/>
                  </a:lnTo>
                  <a:lnTo>
                    <a:pt x="316592" y="227352"/>
                  </a:lnTo>
                  <a:lnTo>
                    <a:pt x="327638" y="186006"/>
                  </a:lnTo>
                  <a:lnTo>
                    <a:pt x="329044" y="164528"/>
                  </a:lnTo>
                  <a:lnTo>
                    <a:pt x="327638" y="143039"/>
                  </a:lnTo>
                  <a:lnTo>
                    <a:pt x="316592" y="101547"/>
                  </a:lnTo>
                  <a:lnTo>
                    <a:pt x="295109" y="64231"/>
                  </a:lnTo>
                  <a:lnTo>
                    <a:pt x="264812" y="33934"/>
                  </a:lnTo>
                  <a:lnTo>
                    <a:pt x="227502" y="12456"/>
                  </a:lnTo>
                  <a:lnTo>
                    <a:pt x="186011" y="1407"/>
                  </a:lnTo>
                  <a:lnTo>
                    <a:pt x="164528" y="0"/>
                  </a:lnTo>
                  <a:close/>
                </a:path>
              </a:pathLst>
            </a:custGeom>
            <a:solidFill>
              <a:srgbClr val="3D7B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09836" y="3675597"/>
              <a:ext cx="329565" cy="329565"/>
            </a:xfrm>
            <a:custGeom>
              <a:avLst/>
              <a:gdLst/>
              <a:ahLst/>
              <a:cxnLst/>
              <a:rect l="l" t="t" r="r" b="b"/>
              <a:pathLst>
                <a:path w="329564" h="329564">
                  <a:moveTo>
                    <a:pt x="0" y="164528"/>
                  </a:moveTo>
                  <a:lnTo>
                    <a:pt x="1407" y="143039"/>
                  </a:lnTo>
                  <a:lnTo>
                    <a:pt x="5583" y="121956"/>
                  </a:lnTo>
                  <a:lnTo>
                    <a:pt x="21958" y="82080"/>
                  </a:lnTo>
                  <a:lnTo>
                    <a:pt x="48150" y="48104"/>
                  </a:lnTo>
                  <a:lnTo>
                    <a:pt x="82448" y="21958"/>
                  </a:lnTo>
                  <a:lnTo>
                    <a:pt x="122002" y="5583"/>
                  </a:lnTo>
                  <a:lnTo>
                    <a:pt x="164528" y="0"/>
                  </a:lnTo>
                  <a:lnTo>
                    <a:pt x="207094" y="5583"/>
                  </a:lnTo>
                  <a:lnTo>
                    <a:pt x="246964" y="21958"/>
                  </a:lnTo>
                  <a:lnTo>
                    <a:pt x="280939" y="48104"/>
                  </a:lnTo>
                  <a:lnTo>
                    <a:pt x="307086" y="82080"/>
                  </a:lnTo>
                  <a:lnTo>
                    <a:pt x="323465" y="121956"/>
                  </a:lnTo>
                  <a:lnTo>
                    <a:pt x="329044" y="164528"/>
                  </a:lnTo>
                  <a:lnTo>
                    <a:pt x="327638" y="186006"/>
                  </a:lnTo>
                  <a:lnTo>
                    <a:pt x="323465" y="207049"/>
                  </a:lnTo>
                  <a:lnTo>
                    <a:pt x="307086" y="246608"/>
                  </a:lnTo>
                  <a:lnTo>
                    <a:pt x="280939" y="280895"/>
                  </a:lnTo>
                  <a:lnTo>
                    <a:pt x="246964" y="307085"/>
                  </a:lnTo>
                  <a:lnTo>
                    <a:pt x="207094" y="323465"/>
                  </a:lnTo>
                  <a:lnTo>
                    <a:pt x="164528" y="329044"/>
                  </a:lnTo>
                  <a:lnTo>
                    <a:pt x="122002" y="323465"/>
                  </a:lnTo>
                  <a:lnTo>
                    <a:pt x="82448" y="307085"/>
                  </a:lnTo>
                  <a:lnTo>
                    <a:pt x="48150" y="280895"/>
                  </a:lnTo>
                  <a:lnTo>
                    <a:pt x="21958" y="246608"/>
                  </a:lnTo>
                  <a:lnTo>
                    <a:pt x="5583" y="207049"/>
                  </a:lnTo>
                  <a:lnTo>
                    <a:pt x="1407" y="186006"/>
                  </a:lnTo>
                  <a:lnTo>
                    <a:pt x="0" y="164528"/>
                  </a:lnTo>
                  <a:close/>
                </a:path>
              </a:pathLst>
            </a:custGeom>
            <a:ln w="25559">
              <a:solidFill>
                <a:srgbClr val="F0F5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931115" y="4024153"/>
            <a:ext cx="81343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51484">
              <a:lnSpc>
                <a:spcPct val="100000"/>
              </a:lnSpc>
              <a:spcBef>
                <a:spcPts val="114"/>
              </a:spcBef>
            </a:pPr>
            <a:r>
              <a:rPr dirty="0" sz="1250" spc="-25">
                <a:solidFill>
                  <a:srgbClr val="293A21"/>
                </a:solidFill>
                <a:latin typeface="Verdana"/>
                <a:cs typeface="Verdana"/>
              </a:rPr>
              <a:t>D4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9724" y="1261442"/>
            <a:ext cx="2103120" cy="567055"/>
            <a:chOff x="639724" y="1261442"/>
            <a:chExt cx="2103120" cy="567055"/>
          </a:xfrm>
        </p:grpSpPr>
        <p:pic>
          <p:nvPicPr>
            <p:cNvPr id="29" name="object 29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7440" y="1462673"/>
              <a:ext cx="365404" cy="3654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724" y="1261442"/>
              <a:ext cx="146151" cy="14616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63144" y="1236512"/>
            <a:ext cx="812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9410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6A795D"/>
                </a:solidFill>
                <a:latin typeface="Tahoma"/>
                <a:cs typeface="Tahoma"/>
              </a:rPr>
              <a:t>High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124" y="1261442"/>
            <a:ext cx="146151" cy="14616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285195" y="1236512"/>
            <a:ext cx="95821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1484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6A795D"/>
                </a:solidFill>
                <a:latin typeface="Tahoma"/>
                <a:cs typeface="Tahoma"/>
              </a:rPr>
              <a:t>Medium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8524" y="1261442"/>
            <a:ext cx="146151" cy="14616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651404" y="1236512"/>
            <a:ext cx="2533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6A795D"/>
                </a:solidFill>
                <a:latin typeface="Tahoma"/>
                <a:cs typeface="Tahoma"/>
              </a:rPr>
              <a:t>Low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56224" y="1176078"/>
            <a:ext cx="2774315" cy="236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 spc="-95">
                <a:solidFill>
                  <a:srgbClr val="69993E"/>
                </a:solidFill>
                <a:latin typeface="Verdana"/>
                <a:cs typeface="Verdana"/>
              </a:rPr>
              <a:t>Depot</a:t>
            </a:r>
            <a:r>
              <a:rPr dirty="0" sz="1350" spc="-15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200" spc="20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→</a:t>
            </a:r>
            <a:r>
              <a:rPr dirty="0" sz="1200" spc="6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 </a:t>
            </a:r>
            <a:r>
              <a:rPr dirty="0" sz="1350" spc="-180">
                <a:solidFill>
                  <a:srgbClr val="69993E"/>
                </a:solidFill>
                <a:latin typeface="Verdana"/>
                <a:cs typeface="Verdana"/>
              </a:rPr>
              <a:t>D1</a:t>
            </a:r>
            <a:r>
              <a:rPr dirty="0" sz="1350" spc="-15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200" spc="20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→</a:t>
            </a:r>
            <a:r>
              <a:rPr dirty="0" sz="1200" spc="55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 </a:t>
            </a:r>
            <a:r>
              <a:rPr dirty="0" sz="1350" spc="-180">
                <a:solidFill>
                  <a:srgbClr val="69993E"/>
                </a:solidFill>
                <a:latin typeface="Verdana"/>
                <a:cs typeface="Verdana"/>
              </a:rPr>
              <a:t>D3</a:t>
            </a:r>
            <a:r>
              <a:rPr dirty="0" sz="1350" spc="-145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200" spc="20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→</a:t>
            </a:r>
            <a:r>
              <a:rPr dirty="0" sz="1200" spc="6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 </a:t>
            </a:r>
            <a:r>
              <a:rPr dirty="0" sz="1350" spc="-180">
                <a:solidFill>
                  <a:srgbClr val="69993E"/>
                </a:solidFill>
                <a:latin typeface="Verdana"/>
                <a:cs typeface="Verdana"/>
              </a:rPr>
              <a:t>D2</a:t>
            </a:r>
            <a:r>
              <a:rPr dirty="0" sz="1350" spc="-15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200" spc="20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→</a:t>
            </a:r>
            <a:r>
              <a:rPr dirty="0" sz="1200" spc="6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 </a:t>
            </a:r>
            <a:r>
              <a:rPr dirty="0" sz="1350" spc="-180">
                <a:solidFill>
                  <a:srgbClr val="69993E"/>
                </a:solidFill>
                <a:latin typeface="Verdana"/>
                <a:cs typeface="Verdana"/>
              </a:rPr>
              <a:t>D4</a:t>
            </a:r>
            <a:r>
              <a:rPr dirty="0" sz="1350" spc="-150">
                <a:solidFill>
                  <a:srgbClr val="69993E"/>
                </a:solidFill>
                <a:latin typeface="Verdana"/>
                <a:cs typeface="Verdana"/>
              </a:rPr>
              <a:t> </a:t>
            </a:r>
            <a:r>
              <a:rPr dirty="0" sz="1200" spc="20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→</a:t>
            </a:r>
            <a:r>
              <a:rPr dirty="0" sz="1200" spc="60" b="1">
                <a:solidFill>
                  <a:srgbClr val="69993E"/>
                </a:solidFill>
                <a:latin typeface="Adobe Clean SemiCondensed"/>
                <a:cs typeface="Adobe Clean SemiCondensed"/>
              </a:rPr>
              <a:t> </a:t>
            </a:r>
            <a:r>
              <a:rPr dirty="0" sz="1350" spc="-70">
                <a:solidFill>
                  <a:srgbClr val="69993E"/>
                </a:solidFill>
                <a:latin typeface="Verdana"/>
                <a:cs typeface="Verdana"/>
              </a:rPr>
              <a:t>Depot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668924" y="1600202"/>
            <a:ext cx="1463040" cy="868680"/>
          </a:xfrm>
          <a:custGeom>
            <a:avLst/>
            <a:gdLst/>
            <a:ahLst/>
            <a:cxnLst/>
            <a:rect l="l" t="t" r="r" b="b"/>
            <a:pathLst>
              <a:path w="1463040" h="868680">
                <a:moveTo>
                  <a:pt x="1462671" y="0"/>
                </a:moveTo>
                <a:lnTo>
                  <a:pt x="0" y="0"/>
                </a:lnTo>
                <a:lnTo>
                  <a:pt x="0" y="868324"/>
                </a:lnTo>
                <a:lnTo>
                  <a:pt x="731519" y="868324"/>
                </a:lnTo>
                <a:lnTo>
                  <a:pt x="1462671" y="868324"/>
                </a:lnTo>
                <a:lnTo>
                  <a:pt x="14626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747664" y="1674947"/>
            <a:ext cx="668655" cy="7073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385">
                <a:solidFill>
                  <a:srgbClr val="293A21"/>
                </a:solidFill>
                <a:latin typeface="Verdana"/>
                <a:cs typeface="Verdana"/>
              </a:rPr>
              <a:t>4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Deliveries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23404" y="1600202"/>
            <a:ext cx="1463040" cy="868680"/>
          </a:xfrm>
          <a:custGeom>
            <a:avLst/>
            <a:gdLst/>
            <a:ahLst/>
            <a:cxnLst/>
            <a:rect l="l" t="t" r="r" b="b"/>
            <a:pathLst>
              <a:path w="1463040" h="868680">
                <a:moveTo>
                  <a:pt x="1462671" y="0"/>
                </a:moveTo>
                <a:lnTo>
                  <a:pt x="0" y="0"/>
                </a:lnTo>
                <a:lnTo>
                  <a:pt x="0" y="868324"/>
                </a:lnTo>
                <a:lnTo>
                  <a:pt x="731519" y="868324"/>
                </a:lnTo>
                <a:lnTo>
                  <a:pt x="1462671" y="868324"/>
                </a:lnTo>
                <a:lnTo>
                  <a:pt x="14626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7302144" y="1674947"/>
            <a:ext cx="854075" cy="7073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385">
                <a:solidFill>
                  <a:srgbClr val="293A21"/>
                </a:solidFill>
                <a:latin typeface="Verdana"/>
                <a:cs typeface="Verdana"/>
              </a:rPr>
              <a:t>2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00" spc="55">
                <a:solidFill>
                  <a:srgbClr val="6A795D"/>
                </a:solidFill>
                <a:latin typeface="Tahoma"/>
                <a:cs typeface="Tahoma"/>
              </a:rPr>
              <a:t>High</a:t>
            </a:r>
            <a:r>
              <a:rPr dirty="0" sz="1100" spc="-5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priority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668924" y="2560322"/>
            <a:ext cx="1463040" cy="868680"/>
          </a:xfrm>
          <a:custGeom>
            <a:avLst/>
            <a:gdLst/>
            <a:ahLst/>
            <a:cxnLst/>
            <a:rect l="l" t="t" r="r" b="b"/>
            <a:pathLst>
              <a:path w="1463040" h="868679">
                <a:moveTo>
                  <a:pt x="1462671" y="0"/>
                </a:moveTo>
                <a:lnTo>
                  <a:pt x="0" y="0"/>
                </a:lnTo>
                <a:lnTo>
                  <a:pt x="0" y="868324"/>
                </a:lnTo>
                <a:lnTo>
                  <a:pt x="731519" y="868324"/>
                </a:lnTo>
                <a:lnTo>
                  <a:pt x="1462671" y="868324"/>
                </a:lnTo>
                <a:lnTo>
                  <a:pt x="14626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747664" y="2635067"/>
            <a:ext cx="1101725" cy="7073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340">
                <a:solidFill>
                  <a:srgbClr val="293A21"/>
                </a:solidFill>
                <a:latin typeface="Verdana"/>
                <a:cs typeface="Verdana"/>
              </a:rPr>
              <a:t>[XX]</a:t>
            </a:r>
            <a:r>
              <a:rPr dirty="0" sz="2500" spc="-30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2500" spc="-160">
                <a:solidFill>
                  <a:srgbClr val="293A21"/>
                </a:solidFill>
                <a:latin typeface="Verdana"/>
                <a:cs typeface="Verdana"/>
              </a:rPr>
              <a:t>km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Total</a:t>
            </a:r>
            <a:r>
              <a:rPr dirty="0" sz="1100" spc="-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6A795D"/>
                </a:solidFill>
                <a:latin typeface="Tahoma"/>
                <a:cs typeface="Tahoma"/>
              </a:rPr>
              <a:t>distance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223404" y="2560322"/>
            <a:ext cx="1463040" cy="868680"/>
          </a:xfrm>
          <a:custGeom>
            <a:avLst/>
            <a:gdLst/>
            <a:ahLst/>
            <a:cxnLst/>
            <a:rect l="l" t="t" r="r" b="b"/>
            <a:pathLst>
              <a:path w="1463040" h="868679">
                <a:moveTo>
                  <a:pt x="1462671" y="0"/>
                </a:moveTo>
                <a:lnTo>
                  <a:pt x="0" y="0"/>
                </a:lnTo>
                <a:lnTo>
                  <a:pt x="0" y="868324"/>
                </a:lnTo>
                <a:lnTo>
                  <a:pt x="731519" y="868324"/>
                </a:lnTo>
                <a:lnTo>
                  <a:pt x="1462671" y="868324"/>
                </a:lnTo>
                <a:lnTo>
                  <a:pt x="14626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302144" y="2635067"/>
            <a:ext cx="859155" cy="7073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340">
                <a:solidFill>
                  <a:srgbClr val="293A21"/>
                </a:solidFill>
                <a:latin typeface="Verdana"/>
                <a:cs typeface="Verdana"/>
              </a:rPr>
              <a:t>[XX]</a:t>
            </a:r>
            <a:r>
              <a:rPr dirty="0" sz="2500" spc="-30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2500" spc="-50">
                <a:solidFill>
                  <a:srgbClr val="293A21"/>
                </a:solidFill>
                <a:latin typeface="Verdana"/>
                <a:cs typeface="Verdana"/>
              </a:rPr>
              <a:t>u</a:t>
            </a:r>
            <a:endParaRPr sz="2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100">
                <a:solidFill>
                  <a:srgbClr val="6A795D"/>
                </a:solidFill>
                <a:latin typeface="Tahoma"/>
                <a:cs typeface="Tahoma"/>
              </a:rPr>
              <a:t>Battery</a:t>
            </a:r>
            <a:r>
              <a:rPr dirty="0" sz="1100" spc="21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100" spc="30">
                <a:solidFill>
                  <a:srgbClr val="6A795D"/>
                </a:solidFill>
                <a:latin typeface="Tahoma"/>
                <a:cs typeface="Tahoma"/>
              </a:rPr>
              <a:t>used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668924" y="3565806"/>
            <a:ext cx="3017520" cy="548640"/>
          </a:xfrm>
          <a:custGeom>
            <a:avLst/>
            <a:gdLst/>
            <a:ahLst/>
            <a:cxnLst/>
            <a:rect l="l" t="t" r="r" b="b"/>
            <a:pathLst>
              <a:path w="3017520" h="548639">
                <a:moveTo>
                  <a:pt x="3017151" y="0"/>
                </a:moveTo>
                <a:lnTo>
                  <a:pt x="0" y="0"/>
                </a:lnTo>
                <a:lnTo>
                  <a:pt x="0" y="548271"/>
                </a:lnTo>
                <a:lnTo>
                  <a:pt x="1508760" y="548271"/>
                </a:lnTo>
                <a:lnTo>
                  <a:pt x="3017151" y="548271"/>
                </a:lnTo>
                <a:lnTo>
                  <a:pt x="3017151" y="0"/>
                </a:lnTo>
                <a:close/>
              </a:path>
            </a:pathLst>
          </a:custGeom>
          <a:solidFill>
            <a:srgbClr val="3D7B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747664" y="3703481"/>
            <a:ext cx="185610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95"/>
              </a:spcBef>
              <a:buSzPct val="86666"/>
              <a:buFont typeface="Adobe Clean SemiCondensed"/>
              <a:buChar char="✓"/>
              <a:tabLst>
                <a:tab pos="233679" algn="l"/>
              </a:tabLst>
            </a:pPr>
            <a:r>
              <a:rPr dirty="0" sz="1500" spc="-114">
                <a:solidFill>
                  <a:srgbClr val="F0F5EB"/>
                </a:solidFill>
                <a:latin typeface="Verdana"/>
                <a:cs typeface="Verdana"/>
              </a:rPr>
              <a:t>Feasible</a:t>
            </a:r>
            <a:r>
              <a:rPr dirty="0" sz="1500" spc="-17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500" spc="-195">
                <a:solidFill>
                  <a:srgbClr val="F0F5EB"/>
                </a:solidFill>
                <a:latin typeface="Verdana"/>
                <a:cs typeface="Verdana"/>
              </a:rPr>
              <a:t>·</a:t>
            </a:r>
            <a:r>
              <a:rPr dirty="0" sz="1500" spc="-16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500" spc="-215">
                <a:solidFill>
                  <a:srgbClr val="F0F5EB"/>
                </a:solidFill>
                <a:latin typeface="Verdana"/>
                <a:cs typeface="Verdana"/>
              </a:rPr>
              <a:t>[XX]</a:t>
            </a:r>
            <a:r>
              <a:rPr dirty="0" sz="1500" spc="-17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500" spc="-120">
                <a:solidFill>
                  <a:srgbClr val="F0F5EB"/>
                </a:solidFill>
                <a:latin typeface="Verdana"/>
                <a:cs typeface="Verdana"/>
              </a:rPr>
              <a:t>u</a:t>
            </a:r>
            <a:r>
              <a:rPr dirty="0" sz="1500" spc="-16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F0F5EB"/>
                </a:solidFill>
                <a:latin typeface="Verdana"/>
                <a:cs typeface="Verdana"/>
              </a:rPr>
              <a:t>left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56224" y="4299752"/>
            <a:ext cx="26562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0" i="1">
                <a:solidFill>
                  <a:srgbClr val="6A795D"/>
                </a:solidFill>
                <a:latin typeface="Calibri"/>
                <a:cs typeface="Calibri"/>
              </a:rPr>
              <a:t>Sample</a:t>
            </a:r>
            <a:r>
              <a:rPr dirty="0" sz="1000" spc="85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6A795D"/>
                </a:solidFill>
                <a:latin typeface="Calibri"/>
                <a:cs typeface="Calibri"/>
              </a:rPr>
              <a:t>/</a:t>
            </a:r>
            <a:r>
              <a:rPr dirty="0" sz="1000" spc="85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6A795D"/>
                </a:solidFill>
                <a:latin typeface="Calibri"/>
                <a:cs typeface="Calibri"/>
              </a:rPr>
              <a:t>demo</a:t>
            </a:r>
            <a:r>
              <a:rPr dirty="0" sz="1000" spc="90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6A795D"/>
                </a:solidFill>
                <a:latin typeface="Calibri"/>
                <a:cs typeface="Calibri"/>
              </a:rPr>
              <a:t>values</a:t>
            </a:r>
            <a:r>
              <a:rPr dirty="0" sz="1000" spc="85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6A795D"/>
                </a:solidFill>
                <a:latin typeface="Calibri"/>
                <a:cs typeface="Calibri"/>
              </a:rPr>
              <a:t>—</a:t>
            </a:r>
            <a:r>
              <a:rPr dirty="0" sz="1000" spc="85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10" i="1">
                <a:solidFill>
                  <a:srgbClr val="6A795D"/>
                </a:solidFill>
                <a:latin typeface="Calibri"/>
                <a:cs typeface="Calibri"/>
              </a:rPr>
              <a:t>not</a:t>
            </a:r>
            <a:r>
              <a:rPr dirty="0" sz="1000" spc="85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45" i="1">
                <a:solidFill>
                  <a:srgbClr val="6A795D"/>
                </a:solidFill>
                <a:latin typeface="Calibri"/>
                <a:cs typeface="Calibri"/>
              </a:rPr>
              <a:t>measured</a:t>
            </a:r>
            <a:r>
              <a:rPr dirty="0" sz="1000" spc="90" i="1">
                <a:solidFill>
                  <a:srgbClr val="6A795D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6A795D"/>
                </a:solidFill>
                <a:latin typeface="Calibri"/>
                <a:cs typeface="Calibri"/>
              </a:rPr>
              <a:t>results.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300"/>
              <a:t>Impact</a:t>
            </a:r>
            <a:r>
              <a:rPr dirty="0" spc="-470"/>
              <a:t> </a:t>
            </a:r>
            <a:r>
              <a:rPr dirty="0" spc="-315"/>
              <a:t>&amp;</a:t>
            </a:r>
            <a:r>
              <a:rPr dirty="0" spc="-470"/>
              <a:t> </a:t>
            </a:r>
            <a:r>
              <a:rPr dirty="0" spc="-215"/>
              <a:t>Practical</a:t>
            </a:r>
            <a:r>
              <a:rPr dirty="0" spc="-465"/>
              <a:t> </a:t>
            </a:r>
            <a:r>
              <a:rPr dirty="0" spc="-210"/>
              <a:t>Benefits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1096926"/>
            <a:ext cx="1691639" cy="1371600"/>
            <a:chOff x="457200" y="1096926"/>
            <a:chExt cx="1691639" cy="1371600"/>
          </a:xfrm>
        </p:grpSpPr>
        <p:sp>
          <p:nvSpPr>
            <p:cNvPr id="5" name="object 5"/>
            <p:cNvSpPr/>
            <p:nvPr/>
          </p:nvSpPr>
          <p:spPr>
            <a:xfrm>
              <a:off x="457200" y="1096926"/>
              <a:ext cx="1691639" cy="1371600"/>
            </a:xfrm>
            <a:custGeom>
              <a:avLst/>
              <a:gdLst/>
              <a:ahLst/>
              <a:cxnLst/>
              <a:rect l="l" t="t" r="r" b="b"/>
              <a:pathLst>
                <a:path w="1691639" h="1371600">
                  <a:moveTo>
                    <a:pt x="1691284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845642" y="1371231"/>
                  </a:lnTo>
                  <a:lnTo>
                    <a:pt x="1691284" y="137123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37" y="1348551"/>
              <a:ext cx="228244" cy="2282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81304" y="1690047"/>
            <a:ext cx="1217930" cy="6540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340"/>
              </a:spcBef>
            </a:pPr>
            <a:r>
              <a:rPr dirty="0" sz="1500" spc="-130">
                <a:solidFill>
                  <a:srgbClr val="293A21"/>
                </a:solidFill>
                <a:latin typeface="Verdana"/>
                <a:cs typeface="Verdana"/>
              </a:rPr>
              <a:t>Battery-</a:t>
            </a:r>
            <a:r>
              <a:rPr dirty="0" sz="1500" spc="-114">
                <a:solidFill>
                  <a:srgbClr val="293A21"/>
                </a:solidFill>
                <a:latin typeface="Verdana"/>
                <a:cs typeface="Verdana"/>
              </a:rPr>
              <a:t>Aware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Rejects</a:t>
            </a:r>
            <a:r>
              <a:rPr dirty="0" sz="1050" spc="2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routes </a:t>
            </a:r>
            <a:r>
              <a:rPr dirty="0" sz="1050" spc="10">
                <a:solidFill>
                  <a:srgbClr val="6A795D"/>
                </a:solidFill>
                <a:latin typeface="Tahoma"/>
                <a:cs typeface="Tahoma"/>
              </a:rPr>
              <a:t>exceeding</a:t>
            </a:r>
            <a:r>
              <a:rPr dirty="0" sz="1050" spc="13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battery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86000" y="1096926"/>
            <a:ext cx="1691639" cy="1371600"/>
            <a:chOff x="2286000" y="1096926"/>
            <a:chExt cx="1691639" cy="1371600"/>
          </a:xfrm>
        </p:grpSpPr>
        <p:sp>
          <p:nvSpPr>
            <p:cNvPr id="9" name="object 9"/>
            <p:cNvSpPr/>
            <p:nvPr/>
          </p:nvSpPr>
          <p:spPr>
            <a:xfrm>
              <a:off x="2286000" y="1096926"/>
              <a:ext cx="1691639" cy="1371600"/>
            </a:xfrm>
            <a:custGeom>
              <a:avLst/>
              <a:gdLst/>
              <a:ahLst/>
              <a:cxnLst/>
              <a:rect l="l" t="t" r="r" b="b"/>
              <a:pathLst>
                <a:path w="1691639" h="1371600">
                  <a:moveTo>
                    <a:pt x="1691284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845642" y="1371231"/>
                  </a:lnTo>
                  <a:lnTo>
                    <a:pt x="1691284" y="137123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7637" y="1348551"/>
              <a:ext cx="228244" cy="2282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410104" y="1690047"/>
            <a:ext cx="1290320" cy="6540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340"/>
              </a:spcBef>
            </a:pPr>
            <a:r>
              <a:rPr dirty="0" sz="1500" spc="-100">
                <a:solidFill>
                  <a:srgbClr val="293A21"/>
                </a:solidFill>
                <a:latin typeface="Verdana"/>
                <a:cs typeface="Verdana"/>
              </a:rPr>
              <a:t>Priority-</a:t>
            </a:r>
            <a:r>
              <a:rPr dirty="0" sz="1500" spc="-20">
                <a:solidFill>
                  <a:srgbClr val="293A21"/>
                </a:solidFill>
                <a:latin typeface="Verdana"/>
                <a:cs typeface="Verdana"/>
              </a:rPr>
              <a:t>Based </a:t>
            </a:r>
            <a:r>
              <a:rPr dirty="0" sz="1050" spc="10">
                <a:solidFill>
                  <a:srgbClr val="6A795D"/>
                </a:solidFill>
                <a:latin typeface="Tahoma"/>
                <a:cs typeface="Tahoma"/>
              </a:rPr>
              <a:t>Important</a:t>
            </a:r>
            <a:r>
              <a:rPr dirty="0" sz="1050" spc="18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deliveries first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14800" y="1096926"/>
            <a:ext cx="1691639" cy="1371600"/>
            <a:chOff x="4114800" y="1096926"/>
            <a:chExt cx="1691639" cy="1371600"/>
          </a:xfrm>
        </p:grpSpPr>
        <p:sp>
          <p:nvSpPr>
            <p:cNvPr id="13" name="object 13"/>
            <p:cNvSpPr/>
            <p:nvPr/>
          </p:nvSpPr>
          <p:spPr>
            <a:xfrm>
              <a:off x="4114800" y="1096926"/>
              <a:ext cx="1691639" cy="1371600"/>
            </a:xfrm>
            <a:custGeom>
              <a:avLst/>
              <a:gdLst/>
              <a:ahLst/>
              <a:cxnLst/>
              <a:rect l="l" t="t" r="r" b="b"/>
              <a:pathLst>
                <a:path w="1691639" h="1371600">
                  <a:moveTo>
                    <a:pt x="1691284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845642" y="1371231"/>
                  </a:lnTo>
                  <a:lnTo>
                    <a:pt x="1691284" y="137123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6437" y="1348551"/>
              <a:ext cx="228244" cy="22824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38904" y="1690047"/>
            <a:ext cx="1146810" cy="6540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2700" marR="5080">
              <a:lnSpc>
                <a:spcPct val="107200"/>
              </a:lnSpc>
              <a:spcBef>
                <a:spcPts val="340"/>
              </a:spcBef>
            </a:pPr>
            <a:r>
              <a:rPr dirty="0" sz="1500" spc="-145">
                <a:solidFill>
                  <a:srgbClr val="293A21"/>
                </a:solidFill>
                <a:latin typeface="Verdana"/>
                <a:cs typeface="Verdana"/>
              </a:rPr>
              <a:t>Shortest</a:t>
            </a:r>
            <a:r>
              <a:rPr dirty="0" sz="1500" spc="4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90">
                <a:solidFill>
                  <a:srgbClr val="293A21"/>
                </a:solidFill>
                <a:latin typeface="Verdana"/>
                <a:cs typeface="Verdana"/>
              </a:rPr>
              <a:t>Path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Dijkstra</a:t>
            </a:r>
            <a:r>
              <a:rPr dirty="0" sz="1050" spc="8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cuts</a:t>
            </a:r>
            <a:r>
              <a:rPr dirty="0" sz="1050" spc="8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extra travel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2605686"/>
            <a:ext cx="1691639" cy="1371600"/>
            <a:chOff x="457200" y="2605686"/>
            <a:chExt cx="1691639" cy="1371600"/>
          </a:xfrm>
        </p:grpSpPr>
        <p:sp>
          <p:nvSpPr>
            <p:cNvPr id="17" name="object 17"/>
            <p:cNvSpPr/>
            <p:nvPr/>
          </p:nvSpPr>
          <p:spPr>
            <a:xfrm>
              <a:off x="457200" y="2605686"/>
              <a:ext cx="1691639" cy="1371600"/>
            </a:xfrm>
            <a:custGeom>
              <a:avLst/>
              <a:gdLst/>
              <a:ahLst/>
              <a:cxnLst/>
              <a:rect l="l" t="t" r="r" b="b"/>
              <a:pathLst>
                <a:path w="1691639" h="1371600">
                  <a:moveTo>
                    <a:pt x="1691284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845642" y="1371231"/>
                  </a:lnTo>
                  <a:lnTo>
                    <a:pt x="1691284" y="137123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837" y="2857311"/>
              <a:ext cx="228244" cy="2282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81304" y="3198807"/>
            <a:ext cx="1393825" cy="6540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340"/>
              </a:spcBef>
            </a:pPr>
            <a:r>
              <a:rPr dirty="0" sz="1500" spc="-114">
                <a:solidFill>
                  <a:srgbClr val="293A21"/>
                </a:solidFill>
                <a:latin typeface="Verdana"/>
                <a:cs typeface="Verdana"/>
              </a:rPr>
              <a:t>Optimized</a:t>
            </a:r>
            <a:r>
              <a:rPr dirty="0" sz="1500" spc="-15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105">
                <a:solidFill>
                  <a:srgbClr val="293A21"/>
                </a:solidFill>
                <a:latin typeface="Verdana"/>
                <a:cs typeface="Verdana"/>
              </a:rPr>
              <a:t>Order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TSP </a:t>
            </a:r>
            <a:r>
              <a:rPr dirty="0" sz="1050" spc="10">
                <a:solidFill>
                  <a:srgbClr val="6A795D"/>
                </a:solidFill>
                <a:latin typeface="Tahoma"/>
                <a:cs typeface="Tahoma"/>
              </a:rPr>
              <a:t>sequences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multi-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stop</a:t>
            </a:r>
            <a:r>
              <a:rPr dirty="0" sz="1050" spc="11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trips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86000" y="2605686"/>
            <a:ext cx="1691639" cy="1371600"/>
            <a:chOff x="2286000" y="2605686"/>
            <a:chExt cx="1691639" cy="1371600"/>
          </a:xfrm>
        </p:grpSpPr>
        <p:sp>
          <p:nvSpPr>
            <p:cNvPr id="21" name="object 21"/>
            <p:cNvSpPr/>
            <p:nvPr/>
          </p:nvSpPr>
          <p:spPr>
            <a:xfrm>
              <a:off x="2286000" y="2605686"/>
              <a:ext cx="1691639" cy="1371600"/>
            </a:xfrm>
            <a:custGeom>
              <a:avLst/>
              <a:gdLst/>
              <a:ahLst/>
              <a:cxnLst/>
              <a:rect l="l" t="t" r="r" b="b"/>
              <a:pathLst>
                <a:path w="1691639" h="1371600">
                  <a:moveTo>
                    <a:pt x="1691284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845642" y="1371231"/>
                  </a:lnTo>
                  <a:lnTo>
                    <a:pt x="1691284" y="137123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7637" y="2857311"/>
              <a:ext cx="228244" cy="22824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410104" y="3198807"/>
            <a:ext cx="1456690" cy="6540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500" spc="-30">
                <a:solidFill>
                  <a:srgbClr val="293A21"/>
                </a:solidFill>
                <a:latin typeface="Verdana"/>
                <a:cs typeface="Verdana"/>
              </a:rPr>
              <a:t>Explainable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See</a:t>
            </a:r>
            <a:r>
              <a:rPr dirty="0" sz="1050" spc="7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why</a:t>
            </a:r>
            <a:r>
              <a:rPr dirty="0" sz="1050" spc="7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routes</a:t>
            </a:r>
            <a:r>
              <a:rPr dirty="0" sz="1050" spc="7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6A795D"/>
                </a:solidFill>
                <a:latin typeface="Tahoma"/>
                <a:cs typeface="Tahoma"/>
              </a:rPr>
              <a:t>pass</a:t>
            </a:r>
            <a:r>
              <a:rPr dirty="0" sz="1050" spc="6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25">
                <a:solidFill>
                  <a:srgbClr val="6A795D"/>
                </a:solidFill>
                <a:latin typeface="Tahoma"/>
                <a:cs typeface="Tahoma"/>
              </a:rPr>
              <a:t>or </a:t>
            </a:r>
            <a:r>
              <a:rPr dirty="0" sz="1050" spc="-20">
                <a:solidFill>
                  <a:srgbClr val="6A795D"/>
                </a:solidFill>
                <a:latin typeface="Tahoma"/>
                <a:cs typeface="Tahoma"/>
              </a:rPr>
              <a:t>fail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14800" y="2605686"/>
            <a:ext cx="1691639" cy="1371600"/>
            <a:chOff x="4114800" y="2605686"/>
            <a:chExt cx="1691639" cy="1371600"/>
          </a:xfrm>
        </p:grpSpPr>
        <p:sp>
          <p:nvSpPr>
            <p:cNvPr id="25" name="object 25"/>
            <p:cNvSpPr/>
            <p:nvPr/>
          </p:nvSpPr>
          <p:spPr>
            <a:xfrm>
              <a:off x="4114800" y="2605686"/>
              <a:ext cx="1691639" cy="1371600"/>
            </a:xfrm>
            <a:custGeom>
              <a:avLst/>
              <a:gdLst/>
              <a:ahLst/>
              <a:cxnLst/>
              <a:rect l="l" t="t" r="r" b="b"/>
              <a:pathLst>
                <a:path w="1691639" h="1371600">
                  <a:moveTo>
                    <a:pt x="1691284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845642" y="1371231"/>
                  </a:lnTo>
                  <a:lnTo>
                    <a:pt x="1691284" y="1371231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6437" y="2857311"/>
              <a:ext cx="228244" cy="22824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238904" y="3198807"/>
            <a:ext cx="1334770" cy="6540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2700" marR="5080">
              <a:lnSpc>
                <a:spcPct val="107200"/>
              </a:lnSpc>
              <a:spcBef>
                <a:spcPts val="340"/>
              </a:spcBef>
            </a:pPr>
            <a:r>
              <a:rPr dirty="0" sz="1500" spc="-120">
                <a:solidFill>
                  <a:srgbClr val="293A21"/>
                </a:solidFill>
                <a:latin typeface="Verdana"/>
                <a:cs typeface="Verdana"/>
              </a:rPr>
              <a:t>Interactive</a:t>
            </a:r>
            <a:r>
              <a:rPr dirty="0" sz="1500" spc="40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1500" spc="-90">
                <a:solidFill>
                  <a:srgbClr val="293A21"/>
                </a:solidFill>
                <a:latin typeface="Verdana"/>
                <a:cs typeface="Verdana"/>
              </a:rPr>
              <a:t>Map </a:t>
            </a:r>
            <a:r>
              <a:rPr dirty="0" sz="1050" spc="10">
                <a:solidFill>
                  <a:srgbClr val="6A795D"/>
                </a:solidFill>
                <a:latin typeface="Tahoma"/>
                <a:cs typeface="Tahoma"/>
              </a:rPr>
              <a:t>Routes</a:t>
            </a:r>
            <a:r>
              <a:rPr dirty="0" sz="1050" spc="10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6A795D"/>
                </a:solidFill>
                <a:latin typeface="Tahoma"/>
                <a:cs typeface="Tahoma"/>
              </a:rPr>
              <a:t>visualized</a:t>
            </a:r>
            <a:r>
              <a:rPr dirty="0" sz="1050" spc="114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050" spc="30">
                <a:solidFill>
                  <a:srgbClr val="6A795D"/>
                </a:solidFill>
                <a:latin typeface="Tahoma"/>
                <a:cs typeface="Tahoma"/>
              </a:rPr>
              <a:t>on </a:t>
            </a:r>
            <a:r>
              <a:rPr dirty="0" sz="1050" spc="-10">
                <a:solidFill>
                  <a:srgbClr val="6A795D"/>
                </a:solidFill>
                <a:latin typeface="Tahoma"/>
                <a:cs typeface="Tahoma"/>
              </a:rPr>
              <a:t>Leaflet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1984" y="1116424"/>
            <a:ext cx="74549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B</a:t>
            </a:r>
            <a:r>
              <a:rPr dirty="0" sz="1250" spc="-140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190">
                <a:solidFill>
                  <a:srgbClr val="C1245B"/>
                </a:solidFill>
                <a:latin typeface="Verdana"/>
                <a:cs typeface="Verdana"/>
              </a:rPr>
              <a:t>E</a:t>
            </a:r>
            <a:r>
              <a:rPr dirty="0" sz="1250" spc="-130">
                <a:solidFill>
                  <a:srgbClr val="C1245B"/>
                </a:solidFill>
                <a:latin typeface="Verdana"/>
                <a:cs typeface="Verdana"/>
              </a:rPr>
              <a:t> F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125">
                <a:solidFill>
                  <a:srgbClr val="C1245B"/>
                </a:solidFill>
                <a:latin typeface="Verdana"/>
                <a:cs typeface="Verdana"/>
              </a:rPr>
              <a:t>O</a:t>
            </a:r>
            <a:r>
              <a:rPr dirty="0" sz="1250" spc="-135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155">
                <a:solidFill>
                  <a:srgbClr val="C1245B"/>
                </a:solidFill>
                <a:latin typeface="Verdana"/>
                <a:cs typeface="Verdana"/>
              </a:rPr>
              <a:t>R</a:t>
            </a:r>
            <a:r>
              <a:rPr dirty="0" sz="1250" spc="-130">
                <a:solidFill>
                  <a:srgbClr val="C1245B"/>
                </a:solidFill>
                <a:latin typeface="Verdana"/>
                <a:cs typeface="Verdana"/>
              </a:rPr>
              <a:t> </a:t>
            </a:r>
            <a:r>
              <a:rPr dirty="0" sz="1250" spc="-85">
                <a:solidFill>
                  <a:srgbClr val="C1245B"/>
                </a:solidFill>
                <a:latin typeface="Verdana"/>
                <a:cs typeface="Verdana"/>
              </a:rPr>
              <a:t>E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34684" y="1371246"/>
            <a:ext cx="2651760" cy="1097280"/>
            <a:chOff x="6034684" y="1371246"/>
            <a:chExt cx="2651760" cy="1097280"/>
          </a:xfrm>
        </p:grpSpPr>
        <p:sp>
          <p:nvSpPr>
            <p:cNvPr id="30" name="object 30"/>
            <p:cNvSpPr/>
            <p:nvPr/>
          </p:nvSpPr>
          <p:spPr>
            <a:xfrm>
              <a:off x="6034684" y="1371246"/>
              <a:ext cx="2651760" cy="1097280"/>
            </a:xfrm>
            <a:custGeom>
              <a:avLst/>
              <a:gdLst/>
              <a:ahLst/>
              <a:cxnLst/>
              <a:rect l="l" t="t" r="r" b="b"/>
              <a:pathLst>
                <a:path w="2651759" h="1097280">
                  <a:moveTo>
                    <a:pt x="265139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1325879" y="1096911"/>
                  </a:lnTo>
                  <a:lnTo>
                    <a:pt x="2651391" y="1096911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359" y="1554482"/>
              <a:ext cx="2103120" cy="685800"/>
            </a:xfrm>
            <a:custGeom>
              <a:avLst/>
              <a:gdLst/>
              <a:ahLst/>
              <a:cxnLst/>
              <a:rect l="l" t="t" r="r" b="b"/>
              <a:pathLst>
                <a:path w="2103120" h="685800">
                  <a:moveTo>
                    <a:pt x="1828799" y="0"/>
                  </a:moveTo>
                  <a:lnTo>
                    <a:pt x="0" y="640079"/>
                  </a:lnTo>
                </a:path>
                <a:path w="2103120" h="685800">
                  <a:moveTo>
                    <a:pt x="1828799" y="0"/>
                  </a:moveTo>
                  <a:lnTo>
                    <a:pt x="365760" y="45719"/>
                  </a:lnTo>
                </a:path>
                <a:path w="2103120" h="685800">
                  <a:moveTo>
                    <a:pt x="365760" y="45719"/>
                  </a:moveTo>
                  <a:lnTo>
                    <a:pt x="2103119" y="685799"/>
                  </a:lnTo>
                </a:path>
                <a:path w="2103120" h="685800">
                  <a:moveTo>
                    <a:pt x="914399" y="274319"/>
                  </a:moveTo>
                  <a:lnTo>
                    <a:pt x="2103119" y="685799"/>
                  </a:lnTo>
                </a:path>
              </a:pathLst>
            </a:custGeom>
            <a:ln w="19079">
              <a:solidFill>
                <a:srgbClr val="C1245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4920" y="2130122"/>
              <a:ext cx="128155" cy="12815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3720" y="1490042"/>
              <a:ext cx="128155" cy="12815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10680" y="1535762"/>
              <a:ext cx="128155" cy="12815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8040" y="2175842"/>
              <a:ext cx="128155" cy="12815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59320" y="1764362"/>
              <a:ext cx="128155" cy="128155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021984" y="2670904"/>
            <a:ext cx="60261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00">
                <a:solidFill>
                  <a:srgbClr val="3D7B4E"/>
                </a:solidFill>
                <a:latin typeface="Verdana"/>
                <a:cs typeface="Verdana"/>
              </a:rPr>
              <a:t>A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130">
                <a:solidFill>
                  <a:srgbClr val="3D7B4E"/>
                </a:solidFill>
                <a:latin typeface="Verdana"/>
                <a:cs typeface="Verdana"/>
              </a:rPr>
              <a:t>F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145">
                <a:solidFill>
                  <a:srgbClr val="3D7B4E"/>
                </a:solidFill>
                <a:latin typeface="Verdana"/>
                <a:cs typeface="Verdana"/>
              </a:rPr>
              <a:t>T</a:t>
            </a:r>
            <a:r>
              <a:rPr dirty="0" sz="1250" spc="-130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190">
                <a:solidFill>
                  <a:srgbClr val="3D7B4E"/>
                </a:solidFill>
                <a:latin typeface="Verdana"/>
                <a:cs typeface="Verdana"/>
              </a:rPr>
              <a:t>E</a:t>
            </a:r>
            <a:r>
              <a:rPr dirty="0" sz="1250" spc="-135">
                <a:solidFill>
                  <a:srgbClr val="3D7B4E"/>
                </a:solidFill>
                <a:latin typeface="Verdana"/>
                <a:cs typeface="Verdana"/>
              </a:rPr>
              <a:t> </a:t>
            </a:r>
            <a:r>
              <a:rPr dirty="0" sz="1250" spc="-65">
                <a:solidFill>
                  <a:srgbClr val="3D7B4E"/>
                </a:solidFill>
                <a:latin typeface="Verdana"/>
                <a:cs typeface="Verdana"/>
              </a:rPr>
              <a:t>R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34684" y="2925726"/>
            <a:ext cx="2651760" cy="1097280"/>
            <a:chOff x="6034684" y="2925726"/>
            <a:chExt cx="2651760" cy="1097280"/>
          </a:xfrm>
        </p:grpSpPr>
        <p:sp>
          <p:nvSpPr>
            <p:cNvPr id="39" name="object 39"/>
            <p:cNvSpPr/>
            <p:nvPr/>
          </p:nvSpPr>
          <p:spPr>
            <a:xfrm>
              <a:off x="6034684" y="2925726"/>
              <a:ext cx="2651760" cy="1097280"/>
            </a:xfrm>
            <a:custGeom>
              <a:avLst/>
              <a:gdLst/>
              <a:ahLst/>
              <a:cxnLst/>
              <a:rect l="l" t="t" r="r" b="b"/>
              <a:pathLst>
                <a:path w="2651759" h="1097279">
                  <a:moveTo>
                    <a:pt x="265139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1325879" y="1096911"/>
                  </a:lnTo>
                  <a:lnTo>
                    <a:pt x="2651391" y="1096911"/>
                  </a:lnTo>
                  <a:lnTo>
                    <a:pt x="26513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309359" y="3154682"/>
              <a:ext cx="2103120" cy="594360"/>
            </a:xfrm>
            <a:custGeom>
              <a:avLst/>
              <a:gdLst/>
              <a:ahLst/>
              <a:cxnLst/>
              <a:rect l="l" t="t" r="r" b="b"/>
              <a:pathLst>
                <a:path w="2103120" h="594360">
                  <a:moveTo>
                    <a:pt x="548639" y="45719"/>
                  </a:moveTo>
                  <a:lnTo>
                    <a:pt x="0" y="594360"/>
                  </a:lnTo>
                </a:path>
                <a:path w="2103120" h="594360">
                  <a:moveTo>
                    <a:pt x="1280160" y="0"/>
                  </a:moveTo>
                  <a:lnTo>
                    <a:pt x="548639" y="45719"/>
                  </a:lnTo>
                </a:path>
                <a:path w="2103120" h="594360">
                  <a:moveTo>
                    <a:pt x="1280160" y="0"/>
                  </a:moveTo>
                  <a:lnTo>
                    <a:pt x="2103119" y="411480"/>
                  </a:lnTo>
                </a:path>
              </a:pathLst>
            </a:custGeom>
            <a:ln w="25559">
              <a:solidFill>
                <a:srgbClr val="3D7B4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4920" y="3684602"/>
              <a:ext cx="128155" cy="12815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3560" y="3135962"/>
              <a:ext cx="128155" cy="12815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5080" y="3090242"/>
              <a:ext cx="128155" cy="12815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8040" y="3501722"/>
              <a:ext cx="128155" cy="12815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021984" y="4208312"/>
            <a:ext cx="263207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10" i="1">
                <a:solidFill>
                  <a:srgbClr val="4B792D"/>
                </a:solidFill>
                <a:latin typeface="Calibri"/>
                <a:cs typeface="Calibri"/>
              </a:rPr>
              <a:t>More</a:t>
            </a:r>
            <a:r>
              <a:rPr dirty="0" sz="1100" spc="13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10" i="1">
                <a:solidFill>
                  <a:srgbClr val="4B792D"/>
                </a:solidFill>
                <a:latin typeface="Calibri"/>
                <a:cs typeface="Calibri"/>
              </a:rPr>
              <a:t>systematic</a:t>
            </a:r>
            <a:r>
              <a:rPr dirty="0" sz="1100" spc="13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10" i="1">
                <a:solidFill>
                  <a:srgbClr val="4B792D"/>
                </a:solidFill>
                <a:latin typeface="Calibri"/>
                <a:cs typeface="Calibri"/>
              </a:rPr>
              <a:t>route</a:t>
            </a:r>
            <a:r>
              <a:rPr dirty="0" sz="1100" spc="14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60" i="1">
                <a:solidFill>
                  <a:srgbClr val="4B792D"/>
                </a:solidFill>
                <a:latin typeface="Calibri"/>
                <a:cs typeface="Calibri"/>
              </a:rPr>
              <a:t>planning</a:t>
            </a:r>
            <a:r>
              <a:rPr dirty="0" sz="1100" spc="135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10" i="1">
                <a:solidFill>
                  <a:srgbClr val="4B792D"/>
                </a:solidFill>
                <a:latin typeface="Calibri"/>
                <a:cs typeface="Calibri"/>
              </a:rPr>
              <a:t>with</a:t>
            </a:r>
            <a:r>
              <a:rPr dirty="0" sz="1100" spc="14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4B792D"/>
                </a:solidFill>
                <a:latin typeface="Calibri"/>
                <a:cs typeface="Calibri"/>
              </a:rPr>
              <a:t>clear</a:t>
            </a:r>
            <a:r>
              <a:rPr dirty="0" sz="1100" spc="-2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20" i="1">
                <a:solidFill>
                  <a:srgbClr val="4B792D"/>
                </a:solidFill>
                <a:latin typeface="Calibri"/>
                <a:cs typeface="Calibri"/>
              </a:rPr>
              <a:t>constraint</a:t>
            </a:r>
            <a:r>
              <a:rPr dirty="0" sz="1100" spc="240" i="1">
                <a:solidFill>
                  <a:srgbClr val="4B792D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4B792D"/>
                </a:solidFill>
                <a:latin typeface="Calibri"/>
                <a:cs typeface="Calibri"/>
              </a:rPr>
              <a:t>validation.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6" name="object 46" descr="impact.jp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7200" y="4114433"/>
            <a:ext cx="1381315" cy="9140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402183"/>
            <a:ext cx="2292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85">
                <a:solidFill>
                  <a:srgbClr val="69993E"/>
                </a:solidFill>
                <a:latin typeface="Verdana"/>
                <a:cs typeface="Verdana"/>
              </a:rPr>
              <a:t>08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54"/>
              <a:t>Future</a:t>
            </a:r>
            <a:r>
              <a:rPr dirty="0" spc="-480"/>
              <a:t> </a:t>
            </a:r>
            <a:r>
              <a:rPr dirty="0" spc="-265"/>
              <a:t>Vision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1097282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4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3935" y="1220307"/>
            <a:ext cx="12185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Real-</a:t>
            </a:r>
            <a:r>
              <a:rPr dirty="0" sz="1100" spc="50">
                <a:solidFill>
                  <a:srgbClr val="293A21"/>
                </a:solidFill>
                <a:latin typeface="Tahoma"/>
                <a:cs typeface="Tahoma"/>
              </a:rPr>
              <a:t>time</a:t>
            </a: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tracking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000" y="1097282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4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82735" y="1220307"/>
            <a:ext cx="15519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Weather-aware</a:t>
            </a:r>
            <a:r>
              <a:rPr dirty="0" sz="1100" spc="36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35">
                <a:solidFill>
                  <a:srgbClr val="293A21"/>
                </a:solidFill>
                <a:latin typeface="Tahoma"/>
                <a:cs typeface="Tahoma"/>
              </a:rPr>
              <a:t>routing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14800" y="1097282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4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11535" y="1220307"/>
            <a:ext cx="12052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0">
                <a:solidFill>
                  <a:srgbClr val="293A21"/>
                </a:solidFill>
                <a:latin typeface="Tahoma"/>
                <a:cs typeface="Tahoma"/>
              </a:rPr>
              <a:t>Dynamic</a:t>
            </a:r>
            <a:r>
              <a:rPr dirty="0" sz="1100" spc="17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requests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" y="1645922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5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3935" y="1685063"/>
            <a:ext cx="852169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Multi-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drone optimization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86000" y="1645922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5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382735" y="1768946"/>
            <a:ext cx="15716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Live</a:t>
            </a:r>
            <a:r>
              <a:rPr dirty="0" sz="1100" spc="12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battery</a:t>
            </a:r>
            <a:r>
              <a:rPr dirty="0" sz="1100" spc="12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45">
                <a:solidFill>
                  <a:srgbClr val="293A21"/>
                </a:solidFill>
                <a:latin typeface="Tahoma"/>
                <a:cs typeface="Tahoma"/>
              </a:rPr>
              <a:t>monitoring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14800" y="1645922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5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11535" y="1768946"/>
            <a:ext cx="13601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0">
                <a:solidFill>
                  <a:srgbClr val="293A21"/>
                </a:solidFill>
                <a:latin typeface="Tahoma"/>
                <a:cs typeface="Tahoma"/>
              </a:rPr>
              <a:t>Airspace</a:t>
            </a:r>
            <a:r>
              <a:rPr dirty="0" sz="1100" spc="17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restrictions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" y="2194561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5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53935" y="2317586"/>
            <a:ext cx="15125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80">
                <a:solidFill>
                  <a:srgbClr val="293A21"/>
                </a:solidFill>
                <a:latin typeface="Tahoma"/>
                <a:cs typeface="Tahoma"/>
              </a:rPr>
              <a:t>ML</a:t>
            </a:r>
            <a:r>
              <a:rPr dirty="0" sz="1100" spc="-45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55">
                <a:solidFill>
                  <a:srgbClr val="293A21"/>
                </a:solidFill>
                <a:latin typeface="Tahoma"/>
                <a:cs typeface="Tahoma"/>
              </a:rPr>
              <a:t>demand</a:t>
            </a:r>
            <a:r>
              <a:rPr dirty="0" sz="1100" spc="-40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prediction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86000" y="2194561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5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382735" y="2233703"/>
            <a:ext cx="852169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Large-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scale optimization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14800" y="2194561"/>
            <a:ext cx="1718945" cy="438784"/>
          </a:xfrm>
          <a:custGeom>
            <a:avLst/>
            <a:gdLst/>
            <a:ahLst/>
            <a:cxnLst/>
            <a:rect l="l" t="t" r="r" b="b"/>
            <a:pathLst>
              <a:path w="1718945" h="438785">
                <a:moveTo>
                  <a:pt x="1718640" y="0"/>
                </a:moveTo>
                <a:lnTo>
                  <a:pt x="0" y="0"/>
                </a:lnTo>
                <a:lnTo>
                  <a:pt x="0" y="438480"/>
                </a:lnTo>
                <a:lnTo>
                  <a:pt x="859320" y="438480"/>
                </a:lnTo>
                <a:lnTo>
                  <a:pt x="1718640" y="438480"/>
                </a:lnTo>
                <a:lnTo>
                  <a:pt x="1718640" y="0"/>
                </a:lnTo>
                <a:close/>
              </a:path>
            </a:pathLst>
          </a:custGeom>
          <a:solidFill>
            <a:srgbClr val="FFFFFF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211535" y="2317586"/>
            <a:ext cx="14998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Real</a:t>
            </a:r>
            <a:r>
              <a:rPr dirty="0" sz="1100" spc="114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293A21"/>
                </a:solidFill>
                <a:latin typeface="Tahoma"/>
                <a:cs typeface="Tahoma"/>
              </a:rPr>
              <a:t>drone</a:t>
            </a:r>
            <a:r>
              <a:rPr dirty="0" sz="1100" spc="114">
                <a:solidFill>
                  <a:srgbClr val="293A21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293A21"/>
                </a:solidFill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6124" y="1097282"/>
            <a:ext cx="2560320" cy="1536065"/>
          </a:xfrm>
          <a:custGeom>
            <a:avLst/>
            <a:gdLst/>
            <a:ahLst/>
            <a:cxnLst/>
            <a:rect l="l" t="t" r="r" b="b"/>
            <a:pathLst>
              <a:path w="2560320" h="1536064">
                <a:moveTo>
                  <a:pt x="2559951" y="0"/>
                </a:moveTo>
                <a:lnTo>
                  <a:pt x="0" y="0"/>
                </a:lnTo>
                <a:lnTo>
                  <a:pt x="0" y="1535760"/>
                </a:lnTo>
                <a:lnTo>
                  <a:pt x="1280160" y="1535760"/>
                </a:lnTo>
                <a:lnTo>
                  <a:pt x="2559951" y="1535760"/>
                </a:lnTo>
                <a:lnTo>
                  <a:pt x="2559951" y="0"/>
                </a:lnTo>
                <a:close/>
              </a:path>
            </a:pathLst>
          </a:custGeom>
          <a:solidFill>
            <a:srgbClr val="6999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250940" y="1543852"/>
            <a:ext cx="2294255" cy="629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65"/>
              </a:lnSpc>
              <a:spcBef>
                <a:spcPts val="100"/>
              </a:spcBef>
            </a:pPr>
            <a:r>
              <a:rPr dirty="0" sz="1150" spc="-175">
                <a:solidFill>
                  <a:srgbClr val="F0F5EB"/>
                </a:solidFill>
                <a:latin typeface="Verdana"/>
                <a:cs typeface="Verdana"/>
              </a:rPr>
              <a:t>C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00">
                <a:solidFill>
                  <a:srgbClr val="F0F5EB"/>
                </a:solidFill>
                <a:latin typeface="Verdana"/>
                <a:cs typeface="Verdana"/>
              </a:rPr>
              <a:t>U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60">
                <a:solidFill>
                  <a:srgbClr val="F0F5EB"/>
                </a:solidFill>
                <a:latin typeface="Verdana"/>
                <a:cs typeface="Verdana"/>
              </a:rPr>
              <a:t>R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60">
                <a:solidFill>
                  <a:srgbClr val="F0F5EB"/>
                </a:solidFill>
                <a:latin typeface="Verdana"/>
                <a:cs typeface="Verdana"/>
              </a:rPr>
              <a:t>R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80">
                <a:solidFill>
                  <a:srgbClr val="F0F5EB"/>
                </a:solidFill>
                <a:latin typeface="Verdana"/>
                <a:cs typeface="Verdana"/>
              </a:rPr>
              <a:t>E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60">
                <a:solidFill>
                  <a:srgbClr val="F0F5EB"/>
                </a:solidFill>
                <a:latin typeface="Verdana"/>
                <a:cs typeface="Verdana"/>
              </a:rPr>
              <a:t>N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F0F5EB"/>
                </a:solidFill>
                <a:latin typeface="Verdana"/>
                <a:cs typeface="Verdana"/>
              </a:rPr>
              <a:t>T</a:t>
            </a:r>
            <a:r>
              <a:rPr dirty="0" sz="1150" spc="42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F0F5EB"/>
                </a:solidFill>
                <a:latin typeface="Verdana"/>
                <a:cs typeface="Verdana"/>
              </a:rPr>
              <a:t>P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60">
                <a:solidFill>
                  <a:srgbClr val="F0F5EB"/>
                </a:solidFill>
                <a:latin typeface="Verdana"/>
                <a:cs typeface="Verdana"/>
              </a:rPr>
              <a:t>R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25">
                <a:solidFill>
                  <a:srgbClr val="F0F5EB"/>
                </a:solidFill>
                <a:latin typeface="Verdana"/>
                <a:cs typeface="Verdana"/>
              </a:rPr>
              <a:t>O</a:t>
            </a:r>
            <a:r>
              <a:rPr dirty="0" sz="11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45">
                <a:solidFill>
                  <a:srgbClr val="F0F5EB"/>
                </a:solidFill>
                <a:latin typeface="Verdana"/>
                <a:cs typeface="Verdana"/>
              </a:rPr>
              <a:t>T</a:t>
            </a:r>
            <a:r>
              <a:rPr dirty="0" sz="1150" spc="-13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25">
                <a:solidFill>
                  <a:srgbClr val="F0F5EB"/>
                </a:solidFill>
                <a:latin typeface="Verdana"/>
                <a:cs typeface="Verdana"/>
              </a:rPr>
              <a:t>O</a:t>
            </a:r>
            <a:r>
              <a:rPr dirty="0" sz="1150" spc="-14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145">
                <a:solidFill>
                  <a:srgbClr val="F0F5EB"/>
                </a:solidFill>
                <a:latin typeface="Verdana"/>
                <a:cs typeface="Verdana"/>
              </a:rPr>
              <a:t>T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95">
                <a:solidFill>
                  <a:srgbClr val="F0F5EB"/>
                </a:solidFill>
                <a:latin typeface="Verdana"/>
                <a:cs typeface="Verdana"/>
              </a:rPr>
              <a:t>Y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F0F5EB"/>
                </a:solidFill>
                <a:latin typeface="Verdana"/>
                <a:cs typeface="Verdana"/>
              </a:rPr>
              <a:t>P</a:t>
            </a:r>
            <a:r>
              <a:rPr dirty="0" sz="1150" spc="-11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F0F5EB"/>
                </a:solidFill>
                <a:latin typeface="Verdana"/>
                <a:cs typeface="Verdana"/>
              </a:rPr>
              <a:t>E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ts val="1685"/>
              </a:lnSpc>
            </a:pPr>
            <a:r>
              <a:rPr dirty="0" sz="1600" spc="-75">
                <a:solidFill>
                  <a:srgbClr val="F0F5EB"/>
                </a:solidFill>
                <a:latin typeface="Verdana"/>
                <a:cs typeface="Verdana"/>
              </a:rPr>
              <a:t>Priority</a:t>
            </a:r>
            <a:r>
              <a:rPr dirty="0" sz="16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130">
                <a:solidFill>
                  <a:srgbClr val="F0F5EB"/>
                </a:solidFill>
                <a:latin typeface="Verdana"/>
                <a:cs typeface="Verdana"/>
              </a:rPr>
              <a:t>Queue</a:t>
            </a:r>
            <a:r>
              <a:rPr dirty="0" sz="1600" spc="-17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525">
                <a:solidFill>
                  <a:srgbClr val="F0F5EB"/>
                </a:solidFill>
                <a:latin typeface="Verdana"/>
                <a:cs typeface="Verdana"/>
              </a:rPr>
              <a:t>+</a:t>
            </a:r>
            <a:r>
              <a:rPr dirty="0" sz="1600" spc="-175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F0F5EB"/>
                </a:solidFill>
                <a:latin typeface="Verdana"/>
                <a:cs typeface="Verdana"/>
              </a:rPr>
              <a:t>Dijkstra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00"/>
              </a:lnSpc>
            </a:pPr>
            <a:r>
              <a:rPr dirty="0" sz="1600" spc="-525">
                <a:solidFill>
                  <a:srgbClr val="F0F5EB"/>
                </a:solidFill>
                <a:latin typeface="Verdana"/>
                <a:cs typeface="Verdana"/>
              </a:rPr>
              <a:t>+</a:t>
            </a:r>
            <a:r>
              <a:rPr dirty="0" sz="16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215">
                <a:solidFill>
                  <a:srgbClr val="F0F5EB"/>
                </a:solidFill>
                <a:latin typeface="Verdana"/>
                <a:cs typeface="Verdana"/>
              </a:rPr>
              <a:t>TSP</a:t>
            </a:r>
            <a:r>
              <a:rPr dirty="0" sz="16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525">
                <a:solidFill>
                  <a:srgbClr val="F0F5EB"/>
                </a:solidFill>
                <a:latin typeface="Verdana"/>
                <a:cs typeface="Verdana"/>
              </a:rPr>
              <a:t>+</a:t>
            </a:r>
            <a:r>
              <a:rPr dirty="0" sz="16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105">
                <a:solidFill>
                  <a:srgbClr val="F0F5EB"/>
                </a:solidFill>
                <a:latin typeface="Verdana"/>
                <a:cs typeface="Verdana"/>
              </a:rPr>
              <a:t>Battery</a:t>
            </a:r>
            <a:r>
              <a:rPr dirty="0" sz="1600" spc="-180">
                <a:solidFill>
                  <a:srgbClr val="F0F5EB"/>
                </a:solidFill>
                <a:latin typeface="Verdana"/>
                <a:cs typeface="Verdana"/>
              </a:rPr>
              <a:t> </a:t>
            </a:r>
            <a:r>
              <a:rPr dirty="0" sz="1600" spc="-80">
                <a:solidFill>
                  <a:srgbClr val="F0F5EB"/>
                </a:solidFill>
                <a:latin typeface="Verdana"/>
                <a:cs typeface="Verdana"/>
              </a:rPr>
              <a:t>Validation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68095" y="2858819"/>
            <a:ext cx="6800215" cy="17411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2300" spc="-140" i="1">
                <a:solidFill>
                  <a:srgbClr val="4B792D"/>
                </a:solidFill>
                <a:latin typeface="Trebuchet MS"/>
                <a:cs typeface="Trebuchet MS"/>
              </a:rPr>
              <a:t>“Smarter</a:t>
            </a:r>
            <a:r>
              <a:rPr dirty="0" sz="2300" spc="-120" i="1">
                <a:solidFill>
                  <a:srgbClr val="4B792D"/>
                </a:solidFill>
                <a:latin typeface="Trebuchet MS"/>
                <a:cs typeface="Trebuchet MS"/>
              </a:rPr>
              <a:t> </a:t>
            </a:r>
            <a:r>
              <a:rPr dirty="0" sz="2300" spc="-125" i="1">
                <a:solidFill>
                  <a:srgbClr val="4B792D"/>
                </a:solidFill>
                <a:latin typeface="Trebuchet MS"/>
                <a:cs typeface="Trebuchet MS"/>
              </a:rPr>
              <a:t>Routes.</a:t>
            </a:r>
            <a:r>
              <a:rPr dirty="0" sz="2300" spc="-120" i="1">
                <a:solidFill>
                  <a:srgbClr val="4B792D"/>
                </a:solidFill>
                <a:latin typeface="Trebuchet MS"/>
                <a:cs typeface="Trebuchet MS"/>
              </a:rPr>
              <a:t> </a:t>
            </a:r>
            <a:r>
              <a:rPr dirty="0" sz="2300" spc="-130" i="1">
                <a:solidFill>
                  <a:srgbClr val="4B792D"/>
                </a:solidFill>
                <a:latin typeface="Trebuchet MS"/>
                <a:cs typeface="Trebuchet MS"/>
              </a:rPr>
              <a:t>Better</a:t>
            </a:r>
            <a:r>
              <a:rPr dirty="0" sz="2300" spc="-120" i="1">
                <a:solidFill>
                  <a:srgbClr val="4B792D"/>
                </a:solidFill>
                <a:latin typeface="Trebuchet MS"/>
                <a:cs typeface="Trebuchet MS"/>
              </a:rPr>
              <a:t> Priorities. </a:t>
            </a:r>
            <a:r>
              <a:rPr dirty="0" sz="2300" spc="-110" i="1">
                <a:solidFill>
                  <a:srgbClr val="4B792D"/>
                </a:solidFill>
                <a:latin typeface="Trebuchet MS"/>
                <a:cs typeface="Trebuchet MS"/>
              </a:rPr>
              <a:t>Safer</a:t>
            </a:r>
            <a:r>
              <a:rPr dirty="0" sz="2300" spc="-114" i="1">
                <a:solidFill>
                  <a:srgbClr val="4B792D"/>
                </a:solidFill>
                <a:latin typeface="Trebuchet MS"/>
                <a:cs typeface="Trebuchet MS"/>
              </a:rPr>
              <a:t> Battery</a:t>
            </a:r>
            <a:r>
              <a:rPr dirty="0" sz="2300" spc="-120" i="1">
                <a:solidFill>
                  <a:srgbClr val="4B792D"/>
                </a:solidFill>
                <a:latin typeface="Trebuchet MS"/>
                <a:cs typeface="Trebuchet MS"/>
              </a:rPr>
              <a:t> </a:t>
            </a:r>
            <a:r>
              <a:rPr dirty="0" sz="2300" spc="-45" i="1">
                <a:solidFill>
                  <a:srgbClr val="4B792D"/>
                </a:solidFill>
                <a:latin typeface="Trebuchet MS"/>
                <a:cs typeface="Trebuchet MS"/>
              </a:rPr>
              <a:t>Usage.”</a:t>
            </a:r>
            <a:endParaRPr sz="23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  <a:spcBef>
                <a:spcPts val="1764"/>
              </a:spcBef>
            </a:pPr>
            <a:r>
              <a:rPr dirty="0" sz="3650" spc="-270">
                <a:solidFill>
                  <a:srgbClr val="293A21"/>
                </a:solidFill>
                <a:latin typeface="Verdana"/>
                <a:cs typeface="Verdana"/>
              </a:rPr>
              <a:t>Thank</a:t>
            </a:r>
            <a:r>
              <a:rPr dirty="0" sz="3650" spc="-46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3650" spc="-295">
                <a:solidFill>
                  <a:srgbClr val="293A21"/>
                </a:solidFill>
                <a:latin typeface="Verdana"/>
                <a:cs typeface="Verdana"/>
              </a:rPr>
              <a:t>You</a:t>
            </a:r>
            <a:r>
              <a:rPr dirty="0" sz="3650" spc="38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3650" spc="-440">
                <a:solidFill>
                  <a:srgbClr val="293A21"/>
                </a:solidFill>
                <a:latin typeface="Verdana"/>
                <a:cs typeface="Verdana"/>
              </a:rPr>
              <a:t>·</a:t>
            </a:r>
            <a:r>
              <a:rPr dirty="0" sz="3650" spc="385">
                <a:solidFill>
                  <a:srgbClr val="293A21"/>
                </a:solidFill>
                <a:latin typeface="Verdana"/>
                <a:cs typeface="Verdana"/>
              </a:rPr>
              <a:t> </a:t>
            </a:r>
            <a:r>
              <a:rPr dirty="0" sz="3650" spc="-275">
                <a:solidFill>
                  <a:srgbClr val="293A21"/>
                </a:solidFill>
                <a:latin typeface="Verdana"/>
                <a:cs typeface="Verdana"/>
              </a:rPr>
              <a:t>Questions?</a:t>
            </a:r>
            <a:endParaRPr sz="3650">
              <a:latin typeface="Verdana"/>
              <a:cs typeface="Verdana"/>
            </a:endParaRPr>
          </a:p>
          <a:p>
            <a:pPr marL="1116330">
              <a:lnSpc>
                <a:spcPct val="100000"/>
              </a:lnSpc>
              <a:spcBef>
                <a:spcPts val="1830"/>
              </a:spcBef>
            </a:pPr>
            <a:r>
              <a:rPr dirty="0" sz="1400" spc="-140">
                <a:solidFill>
                  <a:srgbClr val="6A795D"/>
                </a:solidFill>
                <a:latin typeface="Tahoma"/>
                <a:cs typeface="Tahoma"/>
              </a:rPr>
              <a:t>J.</a:t>
            </a:r>
            <a:r>
              <a:rPr dirty="0" sz="1400" spc="-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A795D"/>
                </a:solidFill>
                <a:latin typeface="Tahoma"/>
                <a:cs typeface="Tahoma"/>
              </a:rPr>
              <a:t>Ravi</a:t>
            </a:r>
            <a:r>
              <a:rPr dirty="0" sz="1400" spc="-4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 spc="75">
                <a:solidFill>
                  <a:srgbClr val="6A795D"/>
                </a:solidFill>
                <a:latin typeface="Tahoma"/>
                <a:cs typeface="Tahoma"/>
              </a:rPr>
              <a:t>Kumar</a:t>
            </a:r>
            <a:r>
              <a:rPr dirty="0" sz="1400" spc="3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 spc="229">
                <a:solidFill>
                  <a:srgbClr val="6A795D"/>
                </a:solidFill>
                <a:latin typeface="Tahoma"/>
                <a:cs typeface="Tahoma"/>
              </a:rPr>
              <a:t>|</a:t>
            </a:r>
            <a:r>
              <a:rPr dirty="0" sz="1400" spc="3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 spc="70">
                <a:solidFill>
                  <a:srgbClr val="6A795D"/>
                </a:solidFill>
                <a:latin typeface="Tahoma"/>
                <a:cs typeface="Tahoma"/>
              </a:rPr>
              <a:t>M.</a:t>
            </a:r>
            <a:r>
              <a:rPr dirty="0" sz="1400" spc="-4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A795D"/>
                </a:solidFill>
                <a:latin typeface="Tahoma"/>
                <a:cs typeface="Tahoma"/>
              </a:rPr>
              <a:t>Saketh</a:t>
            </a:r>
            <a:r>
              <a:rPr dirty="0" sz="1400" spc="35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 spc="229">
                <a:solidFill>
                  <a:srgbClr val="6A795D"/>
                </a:solidFill>
                <a:latin typeface="Tahoma"/>
                <a:cs typeface="Tahoma"/>
              </a:rPr>
              <a:t>|</a:t>
            </a:r>
            <a:r>
              <a:rPr dirty="0" sz="1400" spc="3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A795D"/>
                </a:solidFill>
                <a:latin typeface="Tahoma"/>
                <a:cs typeface="Tahoma"/>
              </a:rPr>
              <a:t>G.</a:t>
            </a:r>
            <a:r>
              <a:rPr dirty="0" sz="1400" spc="-40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A795D"/>
                </a:solidFill>
                <a:latin typeface="Tahoma"/>
                <a:cs typeface="Tahoma"/>
              </a:rPr>
              <a:t>Tharak</a:t>
            </a:r>
            <a:r>
              <a:rPr dirty="0" sz="1400" spc="3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 spc="229">
                <a:solidFill>
                  <a:srgbClr val="6A795D"/>
                </a:solidFill>
                <a:latin typeface="Tahoma"/>
                <a:cs typeface="Tahoma"/>
              </a:rPr>
              <a:t>|</a:t>
            </a:r>
            <a:r>
              <a:rPr dirty="0" sz="1400" spc="35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6A795D"/>
                </a:solidFill>
                <a:latin typeface="Tahoma"/>
                <a:cs typeface="Tahoma"/>
              </a:rPr>
              <a:t>L.</a:t>
            </a:r>
            <a:r>
              <a:rPr dirty="0" sz="1400" spc="-45">
                <a:solidFill>
                  <a:srgbClr val="6A795D"/>
                </a:solidFill>
                <a:latin typeface="Tahoma"/>
                <a:cs typeface="Tahoma"/>
              </a:rPr>
              <a:t> </a:t>
            </a:r>
            <a:r>
              <a:rPr dirty="0" sz="1400" spc="55">
                <a:solidFill>
                  <a:srgbClr val="6A795D"/>
                </a:solidFill>
                <a:latin typeface="Tahoma"/>
                <a:cs typeface="Tahoma"/>
              </a:rPr>
              <a:t>Gowtham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Drone Delivery Path Planner</dc:title>
  <dcterms:created xsi:type="dcterms:W3CDTF">2026-10-03T06:10:07Z</dcterms:created>
  <dcterms:modified xsi:type="dcterms:W3CDTF">2026-10-03T06:10:07Z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2026-10-03T00:00:00Z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25.2.6.2 (X86_64) / LibreOffice Community</vt:lpwstr>
  </property>
  <property fmtid="{D5CDD505-2E9C-101B-9397-08002B2CF9AE}" pid="5" name="LastSaved">
    <vt:filetime>2026-10-03T00:00:00Z</vt:filetime>
  </property>
</Properties>
</file>